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0" r:id="rId2"/>
    <p:sldId id="263" r:id="rId3"/>
    <p:sldId id="270" r:id="rId4"/>
    <p:sldId id="271" r:id="rId5"/>
    <p:sldId id="259" r:id="rId6"/>
    <p:sldId id="256" r:id="rId7"/>
    <p:sldId id="257" r:id="rId8"/>
    <p:sldId id="266" r:id="rId9"/>
    <p:sldId id="273" r:id="rId10"/>
    <p:sldId id="274" r:id="rId11"/>
    <p:sldId id="275" r:id="rId12"/>
    <p:sldId id="280" r:id="rId13"/>
    <p:sldId id="276" r:id="rId14"/>
    <p:sldId id="267" r:id="rId15"/>
    <p:sldId id="279" r:id="rId16"/>
    <p:sldId id="277" r:id="rId17"/>
    <p:sldId id="264" r:id="rId18"/>
    <p:sldId id="272" r:id="rId1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464"/>
    <a:srgbClr val="F2CFEE"/>
    <a:srgbClr val="CFC9FD"/>
    <a:srgbClr val="C7D3FB"/>
    <a:srgbClr val="E97132"/>
    <a:srgbClr val="156082"/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9DFCA3-AE8C-58E4-0DEC-01FE46CADEEA}" v="2" dt="2026-10-20T21:23:22.998"/>
    <p1510:client id="{5CC1A078-0252-7941-9EA6-845ABCA50B74}" v="7434" dt="2026-10-19T11:50:15.080"/>
    <p1510:client id="{90633085-7702-4F94-9305-EC67A7F179D5}" v="56" dt="2026-10-19T09:54:33.021"/>
    <p1510:client id="{A2C83BFD-950E-4261-ADDF-63E91C49A6C3}" v="270" dt="2026-10-19T07:45:29.056"/>
    <p1510:client id="{E50E9322-91CF-58F6-6B1A-EE8AEE003169}" v="1440" dt="2026-10-19T11:10:12.7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81"/>
  </p:normalViewPr>
  <p:slideViewPr>
    <p:cSldViewPr snapToGrid="0">
      <p:cViewPr varScale="1">
        <p:scale>
          <a:sx n="116" d="100"/>
          <a:sy n="116" d="100"/>
        </p:scale>
        <p:origin x="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BF3A89-0269-994C-9851-B128B795EE4B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EE3ED-5DDE-7C48-B90B-7DBEFDB1C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64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Aimed to assess statistical equivalency to spearman’s model 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Simulated the bonds model and compared correlation matrices</a:t>
            </a:r>
          </a:p>
          <a:p>
            <a:pPr marL="171450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Bonds are independent and contribute an individual effect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EE3ED-5DDE-7C48-B90B-7DBEFDB1CC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2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Crux of model is each test item samples from available bonds</a:t>
            </a:r>
          </a:p>
          <a:p>
            <a:pPr marL="171450" indent="-171450">
              <a:buFontTx/>
              <a:buChar char="-"/>
            </a:pPr>
            <a:r>
              <a:rPr lang="en-US"/>
              <a:t>Sampled bonds contribute its effect to item score</a:t>
            </a:r>
          </a:p>
          <a:p>
            <a:pPr marL="171450" indent="-171450">
              <a:buFontTx/>
              <a:buChar char="-"/>
            </a:pPr>
            <a:r>
              <a:rPr lang="en-US"/>
              <a:t>Different variations of sampling</a:t>
            </a:r>
          </a:p>
          <a:p>
            <a:pPr marL="628650" lvl="1" indent="-171450">
              <a:buFontTx/>
              <a:buChar char="-"/>
            </a:pPr>
            <a:r>
              <a:rPr lang="en-US"/>
              <a:t>Thomson’s original method involved a fixed proportion of bonds </a:t>
            </a:r>
          </a:p>
          <a:p>
            <a:pPr marL="628650" lvl="1" indent="-171450">
              <a:buFontTx/>
              <a:buChar char="-"/>
            </a:pPr>
            <a:r>
              <a:rPr lang="en-US"/>
              <a:t>*CLICK* </a:t>
            </a:r>
          </a:p>
          <a:p>
            <a:pPr marL="628650" lvl="1" indent="-171450">
              <a:buFontTx/>
              <a:buChar char="-"/>
            </a:pPr>
            <a:r>
              <a:rPr lang="en-US"/>
              <a:t>Could be extended to a fixed probability of a bond being active</a:t>
            </a:r>
          </a:p>
          <a:p>
            <a:pPr marL="628650" lvl="1" indent="-171450">
              <a:buFontTx/>
              <a:buChar char="-"/>
            </a:pPr>
            <a:r>
              <a:rPr lang="en-US"/>
              <a:t>Third is where we consider a subset</a:t>
            </a:r>
          </a:p>
          <a:p>
            <a:pPr marL="1085850" lvl="2" indent="-171450">
              <a:buFontTx/>
              <a:buChar char="-"/>
            </a:pPr>
            <a:r>
              <a:rPr lang="en-US"/>
              <a:t>Sample from the subset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EE3ED-5DDE-7C48-B90B-7DBEFDB1CC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83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-The active bonds for a test item contribute their effect to its score</a:t>
            </a:r>
          </a:p>
          <a:p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Some bonds may be active in multiple test items</a:t>
            </a:r>
          </a:p>
          <a:p>
            <a:pPr marL="628650" lvl="1" indent="-171450">
              <a:buFontTx/>
              <a:buChar char="-"/>
            </a:pPr>
            <a:r>
              <a:rPr lang="en-US"/>
              <a:t>Effect of bond will contribute to x1 and x2</a:t>
            </a:r>
          </a:p>
          <a:p>
            <a:pPr marL="628650" lvl="1" indent="-171450">
              <a:buFontTx/>
              <a:buChar char="-"/>
            </a:pPr>
            <a:r>
              <a:rPr lang="en-US"/>
              <a:t>Thus, x1 and x2 will be correlated to some degree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EE3ED-5DDE-7C48-B90B-7DBEFDB1CC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88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Can simulate an example in R based on some initial conditions</a:t>
            </a:r>
          </a:p>
          <a:p>
            <a:pPr marL="628650" lvl="1" indent="-171450">
              <a:buFontTx/>
              <a:buChar char="-"/>
            </a:pPr>
            <a:r>
              <a:rPr lang="en-US"/>
              <a:t>If we have 1000 bonds, 12 test items, each bond has.3 probability of being sampled, and test 500 people</a:t>
            </a:r>
          </a:p>
          <a:p>
            <a:pPr marL="171450" lvl="0" indent="-171450">
              <a:buFontTx/>
              <a:buChar char="-"/>
            </a:pPr>
            <a:endParaRPr lang="en-US"/>
          </a:p>
          <a:p>
            <a:pPr marL="171450" lvl="0" indent="-171450">
              <a:buFontTx/>
              <a:buChar char="-"/>
            </a:pPr>
            <a:r>
              <a:rPr lang="en-US"/>
              <a:t>Resulting correlation matrix</a:t>
            </a:r>
          </a:p>
          <a:p>
            <a:pPr marL="171450" lvl="0" indent="-171450">
              <a:buFontTx/>
              <a:buChar char="-"/>
            </a:pPr>
            <a:endParaRPr lang="en-US"/>
          </a:p>
          <a:p>
            <a:pPr marL="171450" lvl="0" indent="-171450">
              <a:buFontTx/>
              <a:buChar char="-"/>
            </a:pPr>
            <a:r>
              <a:rPr lang="en-US"/>
              <a:t>Recall intention to see if we can demonstrate the equivalence of correlation matrix from bonds data to a factor model</a:t>
            </a:r>
          </a:p>
          <a:p>
            <a:pPr marL="171450" lvl="0" indent="-171450">
              <a:buFontTx/>
              <a:buChar char="-"/>
            </a:pPr>
            <a:endParaRPr lang="en-US"/>
          </a:p>
          <a:p>
            <a:pPr marL="171450" lvl="0" indent="-171450">
              <a:buFontTx/>
              <a:buChar char="-"/>
            </a:pPr>
            <a:r>
              <a:rPr lang="en-US"/>
              <a:t>Positive manifold? Yes!</a:t>
            </a:r>
          </a:p>
          <a:p>
            <a:pPr marL="1085850" lvl="2" indent="-171450">
              <a:buFontTx/>
              <a:buChar char="-"/>
            </a:pPr>
            <a:endParaRPr lang="en-US"/>
          </a:p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EE3ED-5DDE-7C48-B90B-7DBEFDB1CC7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07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/>
              <a:t>Second half is looking at if a factor model fits the simulated bonds data</a:t>
            </a:r>
          </a:p>
          <a:p>
            <a:pPr marL="171450" indent="-171450">
              <a:buFontTx/>
              <a:buChar char="-"/>
            </a:pPr>
            <a:r>
              <a:rPr lang="en-US"/>
              <a:t>See that a one factor model does fit</a:t>
            </a:r>
          </a:p>
          <a:p>
            <a:pPr marL="171450" indent="-171450">
              <a:buFontTx/>
              <a:buChar char="-"/>
            </a:pPr>
            <a:r>
              <a:rPr lang="en-US"/>
              <a:t>Suggesting that our correlation matrix is statistically equivalent to one of a factor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EE3ED-5DDE-7C48-B90B-7DBEFDB1CC7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12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7E27-56E7-DAE6-C7EF-FE5B58F96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6F05EE-8112-01C5-14FD-E88FCF387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5335C-8CEC-3EC8-D55D-1EB55B16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0B73-65AB-CF4B-9234-CBF48A46DFFB}" type="datetime1">
              <a:rPr lang="en-US" smtClean="0"/>
              <a:t>10/20/26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C781D-508F-572E-4BDD-144BB279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2806E-CC69-A31D-D30D-292E95ED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38391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5FD01-750C-01FE-E07C-2C3BE2BC2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6B2F6-36EA-0B41-6C8D-5B94D63F0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65BC4-5232-F07F-5E15-E87DCB21B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9C58A-7A13-F64C-986C-0BE84B5851F5}" type="datetime1">
              <a:rPr lang="en-US" smtClean="0"/>
              <a:t>10/20/26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936B8-62CC-38EB-BF0C-67D816333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6C307-F05E-DF44-CE69-5B3B0B34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6962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58D6-6C57-2AFE-E925-FCECD320C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7E70E-1EE1-46A9-6250-B71CE1D44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BA679-D745-7C24-AD0E-3E3D7D76D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AD85D-E431-1548-B18D-C1A4E4C3AF1B}" type="datetime1">
              <a:rPr lang="en-US" smtClean="0"/>
              <a:t>10/20/26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04FB7-67B7-0DB0-1A40-965140CE0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BF1DF-8B81-4B10-BEE2-4F290D1D5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560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D295-EB81-805B-DE04-203FC5857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6AE56-B502-C37C-A4E2-8FBA66D6D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AA2F1-4B95-AAEE-F40D-E3299BA01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7836A-0D8F-83B4-ED5A-7497BCED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E92DE-4B29-6543-86A3-D12ABAA1B76D}" type="datetime1">
              <a:rPr lang="en-US" smtClean="0"/>
              <a:t>10/20/26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C90E3-4DB3-9AD4-FAE4-20BA9C60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5F31B-02BB-762B-E50A-0DF00E26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7569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F3FB-9D64-4A04-19DA-B17987B8F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8FB3D-85FA-77BC-3DFE-4F9A8FC7B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82D0B-FDB2-247E-5726-A06785096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5D10EB-A68F-0DB5-C269-437BD9AA1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2C646-BD3B-07A6-7B26-38503CB7F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CCEA5E-776C-4DCF-4C76-8A421AC5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AA18-BCBD-3243-B1CE-D4EBC3B4E79B}" type="datetime1">
              <a:rPr lang="en-US" smtClean="0"/>
              <a:t>10/20/26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1811B8-B737-7D94-3B63-9769CDAC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77E62-9F12-A599-52E8-55B260C80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23707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0F43D-7226-E7EA-1EFD-1E839097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46F8D-267E-3873-8BEA-3B47D0002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CEFE6-51D5-0748-B718-2B132E34758D}" type="datetime1">
              <a:rPr lang="en-US" smtClean="0"/>
              <a:t>10/20/26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703FD-2B2A-95EB-C337-C2F645A1A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7DE24-6FCE-1126-0A0E-FE9180E0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5731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5A8D5-70DD-E31B-5882-87A788C4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68D5C-A819-8B4F-8950-753269D5D62F}" type="datetime1">
              <a:rPr lang="en-US" smtClean="0"/>
              <a:t>10/20/26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508CA-8462-7267-81A9-7280AF65B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9C038-2B5E-92BC-596A-C846990DA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4978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4BBCD-76E9-3CEA-9050-FA41BB7E3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CCDAB-41DF-8427-0AF7-BB9CF6403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136EE-002F-9107-A5E6-F9E1457A5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204C3-86B0-0B28-6397-0E1C36EF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1756E-47E8-2E4B-AAAA-BA9A5229DC30}" type="datetime1">
              <a:rPr lang="en-US" smtClean="0"/>
              <a:t>10/20/26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B5329-18E9-2481-972D-8E0E03887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4E89A-6DF2-F44C-3F75-149D60DE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9726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FD2D3-8099-0E12-DBA5-BCEE1F13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918BD5-ABA9-58A6-7C14-B1595ABA36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0EA60-F32D-BC1C-A572-39F83B21F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1ACB7-286B-1983-4449-D542F5EFE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58CD9-3B77-D74A-8D3B-8DEB15EBFD1F}" type="datetime1">
              <a:rPr lang="en-US" smtClean="0"/>
              <a:t>10/20/26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9F8A9-D784-A28C-C5D2-298F8055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B2977-065C-71BC-7845-AE95151E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5464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5915-B313-A8EB-0B42-E22ED0474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8F6BE-315B-490F-1B6E-CF550758D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DF7D-5026-608A-E9B1-1203EC418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B785F-86AE-B04B-923F-A8FC2A38BFC9}" type="datetime1">
              <a:rPr lang="en-US" smtClean="0"/>
              <a:t>10/20/26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771D9-1590-1312-707C-A4C9A34FD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8A284-01BC-B726-3545-DF395763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52363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2A253A-312E-B852-64C8-35B604870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B002A-2C46-3A69-CDC0-7B4BCA1B9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F798C-25A8-D889-4E31-C2F8593B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8CB6C-DED4-C641-954C-0D7CB4C2507D}" type="datetime1">
              <a:rPr lang="en-US" smtClean="0"/>
              <a:t>10/20/26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03783-7A7F-B45B-DCCB-CBD2670F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A14CD-D380-D359-4CC3-AC86E30C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79176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3C2971-9152-6893-D66F-03BF953DD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1693A-2DB7-90ED-D231-D6572539C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D2189-4B2E-98A4-3098-132DF972D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CF5BA-0357-F74C-BB3C-6BD1EA95FAF6}" type="datetime1">
              <a:rPr lang="en-US" smtClean="0"/>
              <a:t>10/20/26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B6ADF-352D-72BE-D8FA-64448E65E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A7776-40AE-6EC0-B601-85442A1FD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FD6E5-252C-444C-85AF-D28A569AF46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96789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7/a0016262" TargetMode="External"/><Relationship Id="rId2" Type="http://schemas.openxmlformats.org/officeDocument/2006/relationships/hyperlink" Target="https://doi.org/10.1016/j.intell.2013.03.007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i.org/10.1080/1047840X.2016.1153946" TargetMode="External"/><Relationship Id="rId5" Type="http://schemas.openxmlformats.org/officeDocument/2006/relationships/hyperlink" Target="https://doi.org/10.2307/1412107" TargetMode="External"/><Relationship Id="rId4" Type="http://schemas.openxmlformats.org/officeDocument/2006/relationships/hyperlink" Target="https://doi.org/10.1177/174569161986644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7A09-CC8D-3DBF-AD59-548811CA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641" y="1841196"/>
            <a:ext cx="10515600" cy="1325563"/>
          </a:xfrm>
        </p:spPr>
        <p:txBody>
          <a:bodyPr/>
          <a:lstStyle/>
          <a:p>
            <a:pPr algn="ctr"/>
            <a:r>
              <a:rPr lang="en-US"/>
              <a:t>Explaining the Positive Manifold:</a:t>
            </a:r>
            <a:br>
              <a:rPr lang="en-US"/>
            </a:br>
            <a:r>
              <a:rPr lang="en-US"/>
              <a:t>A critical comparison of intelligence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81B4B-B8E1-A192-2155-AEE49008F074}"/>
              </a:ext>
            </a:extLst>
          </p:cNvPr>
          <p:cNvSpPr txBox="1"/>
          <p:nvPr/>
        </p:nvSpPr>
        <p:spPr>
          <a:xfrm>
            <a:off x="3168045" y="3431117"/>
            <a:ext cx="617734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accent3"/>
                </a:solidFill>
              </a:rPr>
              <a:t>By Claire Kelly, Tess Gilmartin, and Daan Vosters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A6FD45-4DA9-4F97-FFC8-C1D06403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438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A black silhouette of a ship&#10;&#10;AI-generated content may be incorrect.">
            <a:extLst>
              <a:ext uri="{FF2B5EF4-FFF2-40B4-BE49-F238E27FC236}">
                <a16:creationId xmlns:a16="http://schemas.microsoft.com/office/drawing/2014/main" id="{12B59A6C-1AA8-00D6-BC83-1B617710A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979" y="4234246"/>
            <a:ext cx="876302" cy="496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A8EB17-28D1-8860-5610-923D17AE3945}"/>
              </a:ext>
            </a:extLst>
          </p:cNvPr>
          <p:cNvSpPr txBox="1"/>
          <p:nvPr/>
        </p:nvSpPr>
        <p:spPr>
          <a:xfrm>
            <a:off x="483532" y="898961"/>
            <a:ext cx="32553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Spearman's Two-Factor (1904)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2DB119-2842-D1D2-E37D-BCD037A03C7B}"/>
              </a:ext>
            </a:extLst>
          </p:cNvPr>
          <p:cNvSpPr txBox="1"/>
          <p:nvPr/>
        </p:nvSpPr>
        <p:spPr>
          <a:xfrm>
            <a:off x="9054332" y="859331"/>
            <a:ext cx="26347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Thomson's Bonds (1916)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2A89B-F876-3A15-8B65-57AF7F6CBCEF}"/>
              </a:ext>
            </a:extLst>
          </p:cNvPr>
          <p:cNvSpPr txBox="1"/>
          <p:nvPr/>
        </p:nvSpPr>
        <p:spPr>
          <a:xfrm>
            <a:off x="4912904" y="861334"/>
            <a:ext cx="315589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Van der Maas et al. (2006) Mutualism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883257CE-8034-42B9-95E8-ED0D3FA5EC0D}"/>
              </a:ext>
            </a:extLst>
          </p:cNvPr>
          <p:cNvSpPr/>
          <p:nvPr/>
        </p:nvSpPr>
        <p:spPr>
          <a:xfrm>
            <a:off x="5248247" y="2032512"/>
            <a:ext cx="548640" cy="548640"/>
          </a:xfrm>
          <a:prstGeom prst="flowChartConnector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5D12CB9-721D-4268-F398-783CDBAA61B7}"/>
              </a:ext>
            </a:extLst>
          </p:cNvPr>
          <p:cNvSpPr/>
          <p:nvPr/>
        </p:nvSpPr>
        <p:spPr>
          <a:xfrm>
            <a:off x="6240285" y="2032512"/>
            <a:ext cx="548640" cy="548640"/>
          </a:xfrm>
          <a:prstGeom prst="flowChartConnector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C30B0314-3B4D-00BE-578F-F1632D352507}"/>
              </a:ext>
            </a:extLst>
          </p:cNvPr>
          <p:cNvSpPr/>
          <p:nvPr/>
        </p:nvSpPr>
        <p:spPr>
          <a:xfrm>
            <a:off x="5520011" y="1657692"/>
            <a:ext cx="1010970" cy="37722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Arrow: Curved Down 18">
            <a:extLst>
              <a:ext uri="{FF2B5EF4-FFF2-40B4-BE49-F238E27FC236}">
                <a16:creationId xmlns:a16="http://schemas.microsoft.com/office/drawing/2014/main" id="{3428FBAC-0A02-5AE2-305B-58E1EBBE6E55}"/>
              </a:ext>
            </a:extLst>
          </p:cNvPr>
          <p:cNvSpPr/>
          <p:nvPr/>
        </p:nvSpPr>
        <p:spPr>
          <a:xfrm rot="10800000">
            <a:off x="5505634" y="2577842"/>
            <a:ext cx="1010970" cy="37722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B8439-FE1C-CDEE-D7CF-D7B2206957F3}"/>
              </a:ext>
            </a:extLst>
          </p:cNvPr>
          <p:cNvSpPr txBox="1"/>
          <p:nvPr/>
        </p:nvSpPr>
        <p:spPr>
          <a:xfrm>
            <a:off x="4101022" y="265327"/>
            <a:ext cx="425012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Three Models of </a:t>
            </a:r>
            <a:r>
              <a:rPr lang="en-US" sz="2400" b="1" err="1"/>
              <a:t>Intellig</a:t>
            </a:r>
            <a:r>
              <a:rPr lang="en-US" sz="2400" b="1"/>
              <a:t>ence</a:t>
            </a:r>
          </a:p>
        </p:txBody>
      </p:sp>
      <p:pic>
        <p:nvPicPr>
          <p:cNvPr id="45" name="Picture 44" descr="A diagram of a cell&#10;&#10;AI-generated content may be incorrect.">
            <a:extLst>
              <a:ext uri="{FF2B5EF4-FFF2-40B4-BE49-F238E27FC236}">
                <a16:creationId xmlns:a16="http://schemas.microsoft.com/office/drawing/2014/main" id="{6EB60619-3E0B-44A4-0C7E-9B010FFBA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825" y="1383242"/>
            <a:ext cx="2097617" cy="190711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FC5B8D58-13B0-AAA6-F71F-540CF1B8AB54}"/>
              </a:ext>
            </a:extLst>
          </p:cNvPr>
          <p:cNvSpPr txBox="1"/>
          <p:nvPr/>
        </p:nvSpPr>
        <p:spPr>
          <a:xfrm>
            <a:off x="377699" y="2955417"/>
            <a:ext cx="369145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  <a:p>
            <a:pPr marL="285750" indent="-285750">
              <a:buFont typeface="Calibri,Sans-Serif"/>
              <a:buChar char="-"/>
            </a:pPr>
            <a:r>
              <a:rPr lang="en-US"/>
              <a:t>"g," a genuine psychological property, underlies the positive manifold</a:t>
            </a:r>
          </a:p>
          <a:p>
            <a:endParaRPr lang="en-US"/>
          </a:p>
        </p:txBody>
      </p:sp>
      <p:pic>
        <p:nvPicPr>
          <p:cNvPr id="47" name="Picture 46" descr="A diagram of a diagram&#10;&#10;AI-generated content may be incorrect.">
            <a:extLst>
              <a:ext uri="{FF2B5EF4-FFF2-40B4-BE49-F238E27FC236}">
                <a16:creationId xmlns:a16="http://schemas.microsoft.com/office/drawing/2014/main" id="{1270512B-BA4A-1A9A-E75C-F19A14F678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00" t="-1153" r="-232" b="-453"/>
          <a:stretch>
            <a:fillRect/>
          </a:stretch>
        </p:blipFill>
        <p:spPr>
          <a:xfrm>
            <a:off x="377391" y="1243137"/>
            <a:ext cx="3514859" cy="2030323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05B821F-A0BE-073F-129F-E849C2B3C71B}"/>
              </a:ext>
            </a:extLst>
          </p:cNvPr>
          <p:cNvSpPr txBox="1"/>
          <p:nvPr/>
        </p:nvSpPr>
        <p:spPr>
          <a:xfrm>
            <a:off x="4633233" y="3095625"/>
            <a:ext cx="371474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/>
              <a:t>Mutualistic development between cognitive processes produces positive manifold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320572-DC9F-3ADB-84E3-9BB3FC6F14A8}"/>
              </a:ext>
            </a:extLst>
          </p:cNvPr>
          <p:cNvSpPr txBox="1"/>
          <p:nvPr/>
        </p:nvSpPr>
        <p:spPr>
          <a:xfrm>
            <a:off x="8803823" y="3368039"/>
            <a:ext cx="326571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/>
              <a:t>Measurement problem: overlap in sampled 'bonds' produces positive manifold</a:t>
            </a:r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  <p:pic>
        <p:nvPicPr>
          <p:cNvPr id="52" name="Picture 51" descr="A black and white boat&#10;&#10;AI-generated content may be incorrect.">
            <a:extLst>
              <a:ext uri="{FF2B5EF4-FFF2-40B4-BE49-F238E27FC236}">
                <a16:creationId xmlns:a16="http://schemas.microsoft.com/office/drawing/2014/main" id="{6C0DC2F7-DAA2-D22B-CA0E-768C38C08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3838" y="4305005"/>
            <a:ext cx="945698" cy="518435"/>
          </a:xfrm>
          <a:prstGeom prst="rect">
            <a:avLst/>
          </a:prstGeom>
        </p:spPr>
      </p:pic>
      <p:pic>
        <p:nvPicPr>
          <p:cNvPr id="53" name="Picture 52" descr="A black and white sailboat&#10;&#10;AI-generated content may be incorrect.">
            <a:extLst>
              <a:ext uri="{FF2B5EF4-FFF2-40B4-BE49-F238E27FC236}">
                <a16:creationId xmlns:a16="http://schemas.microsoft.com/office/drawing/2014/main" id="{3446A4A6-8DA3-9EB5-C3F2-A62DB2A89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4132" y="4047208"/>
            <a:ext cx="772886" cy="681718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F9322000-C726-C0C5-4B15-7B0B7CF7DD57}"/>
              </a:ext>
            </a:extLst>
          </p:cNvPr>
          <p:cNvSpPr txBox="1"/>
          <p:nvPr/>
        </p:nvSpPr>
        <p:spPr>
          <a:xfrm>
            <a:off x="1367518" y="4871357"/>
            <a:ext cx="945696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2">
                    <a:lumMod val="49000"/>
                    <a:lumOff val="51000"/>
                  </a:schemeClr>
                </a:solidFill>
              </a:rPr>
              <a:t>Original goal of models:</a:t>
            </a:r>
            <a:r>
              <a:rPr lang="en-US">
                <a:solidFill>
                  <a:schemeClr val="tx2">
                    <a:lumMod val="49000"/>
                    <a:lumOff val="51000"/>
                  </a:schemeClr>
                </a:solidFill>
              </a:rPr>
              <a:t> </a:t>
            </a:r>
            <a:r>
              <a:rPr lang="en-US"/>
              <a:t>provide </a:t>
            </a:r>
            <a:r>
              <a:rPr lang="en-US" u="sng"/>
              <a:t>explanation</a:t>
            </a:r>
            <a:r>
              <a:rPr lang="en-US"/>
              <a:t> for the positive manifold. </a:t>
            </a:r>
          </a:p>
          <a:p>
            <a:endParaRPr lang="en-US">
              <a:solidFill>
                <a:srgbClr val="000000"/>
              </a:solidFill>
            </a:endParaRPr>
          </a:p>
          <a:p>
            <a:r>
              <a:rPr lang="en-US" b="1">
                <a:solidFill>
                  <a:schemeClr val="accent3">
                    <a:lumMod val="76000"/>
                  </a:schemeClr>
                </a:solidFill>
              </a:rPr>
              <a:t>Our goal:</a:t>
            </a:r>
            <a:r>
              <a:rPr lang="en-US">
                <a:solidFill>
                  <a:schemeClr val="accent3">
                    <a:lumMod val="76000"/>
                  </a:schemeClr>
                </a:solidFill>
              </a:rPr>
              <a:t> </a:t>
            </a:r>
            <a:r>
              <a:rPr lang="en-US"/>
              <a:t>Parse the </a:t>
            </a:r>
            <a:r>
              <a:rPr lang="en-US" u="sng"/>
              <a:t>utility</a:t>
            </a:r>
            <a:r>
              <a:rPr lang="en-US"/>
              <a:t> and </a:t>
            </a:r>
            <a:r>
              <a:rPr lang="en-US" u="sng"/>
              <a:t>implications </a:t>
            </a:r>
            <a:r>
              <a:rPr lang="en-US"/>
              <a:t>of models (and their variants) which are shown to be –to some degree—satisfactory.</a:t>
            </a:r>
          </a:p>
          <a:p>
            <a:endParaRPr lang="en-US">
              <a:latin typeface="Aptos"/>
              <a:cs typeface="Arial"/>
            </a:endParaRPr>
          </a:p>
          <a:p>
            <a:endParaRPr lang="en-US">
              <a:latin typeface="Aptos"/>
              <a:cs typeface="Arial"/>
            </a:endParaRPr>
          </a:p>
        </p:txBody>
      </p:sp>
      <p:pic>
        <p:nvPicPr>
          <p:cNvPr id="56" name="Picture 55" descr="A blue wave with white border&#10;&#10;AI-generated content may be incorrect.">
            <a:extLst>
              <a:ext uri="{FF2B5EF4-FFF2-40B4-BE49-F238E27FC236}">
                <a16:creationId xmlns:a16="http://schemas.microsoft.com/office/drawing/2014/main" id="{7245F97D-18D4-14DA-4EDE-A83A1C23ACD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337" t="14609" r="-169" b="56196"/>
          <a:stretch>
            <a:fillRect/>
          </a:stretch>
        </p:blipFill>
        <p:spPr>
          <a:xfrm>
            <a:off x="1361" y="6090557"/>
            <a:ext cx="8118048" cy="789726"/>
          </a:xfrm>
          <a:prstGeom prst="rect">
            <a:avLst/>
          </a:prstGeom>
        </p:spPr>
      </p:pic>
      <p:pic>
        <p:nvPicPr>
          <p:cNvPr id="57" name="Picture 56" descr="A blue wave with white border&#10;&#10;AI-generated content may be incorrect.">
            <a:extLst>
              <a:ext uri="{FF2B5EF4-FFF2-40B4-BE49-F238E27FC236}">
                <a16:creationId xmlns:a16="http://schemas.microsoft.com/office/drawing/2014/main" id="{CBA47F9D-209E-26CE-CB0D-58AF680A99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430" t="14987" r="22746" b="55793"/>
          <a:stretch>
            <a:fillRect/>
          </a:stretch>
        </p:blipFill>
        <p:spPr>
          <a:xfrm>
            <a:off x="5919787" y="6087156"/>
            <a:ext cx="6274618" cy="79038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60C717-2429-293E-FEAB-4BEDC3186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521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51D5-C6C1-06E5-3CEF-642F9DB7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Mutualism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B30EBA-6171-66AE-DA06-543C8FF00ED6}"/>
                  </a:ext>
                </a:extLst>
              </p:cNvPr>
              <p:cNvSpPr txBox="1"/>
              <p:nvPr/>
            </p:nvSpPr>
            <p:spPr>
              <a:xfrm>
                <a:off x="4297623" y="1690688"/>
                <a:ext cx="3596754" cy="1004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NL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L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NL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B30EBA-6171-66AE-DA06-543C8FF00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23" y="1690688"/>
                <a:ext cx="3596754" cy="10045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75F22B-C9D5-E60D-4873-DF34B059B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660503"/>
              </p:ext>
            </p:extLst>
          </p:nvPr>
        </p:nvGraphicFramePr>
        <p:xfrm>
          <a:off x="838200" y="2695194"/>
          <a:ext cx="3331464" cy="33314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622">
                  <a:extLst>
                    <a:ext uri="{9D8B030D-6E8A-4147-A177-3AD203B41FA5}">
                      <a16:colId xmlns:a16="http://schemas.microsoft.com/office/drawing/2014/main" val="3429825043"/>
                    </a:ext>
                  </a:extLst>
                </a:gridCol>
                <a:gridCol w="277622">
                  <a:extLst>
                    <a:ext uri="{9D8B030D-6E8A-4147-A177-3AD203B41FA5}">
                      <a16:colId xmlns:a16="http://schemas.microsoft.com/office/drawing/2014/main" val="870081388"/>
                    </a:ext>
                  </a:extLst>
                </a:gridCol>
                <a:gridCol w="277622">
                  <a:extLst>
                    <a:ext uri="{9D8B030D-6E8A-4147-A177-3AD203B41FA5}">
                      <a16:colId xmlns:a16="http://schemas.microsoft.com/office/drawing/2014/main" val="3393931899"/>
                    </a:ext>
                  </a:extLst>
                </a:gridCol>
                <a:gridCol w="277622">
                  <a:extLst>
                    <a:ext uri="{9D8B030D-6E8A-4147-A177-3AD203B41FA5}">
                      <a16:colId xmlns:a16="http://schemas.microsoft.com/office/drawing/2014/main" val="1856482749"/>
                    </a:ext>
                  </a:extLst>
                </a:gridCol>
                <a:gridCol w="277622">
                  <a:extLst>
                    <a:ext uri="{9D8B030D-6E8A-4147-A177-3AD203B41FA5}">
                      <a16:colId xmlns:a16="http://schemas.microsoft.com/office/drawing/2014/main" val="1409114076"/>
                    </a:ext>
                  </a:extLst>
                </a:gridCol>
                <a:gridCol w="277622">
                  <a:extLst>
                    <a:ext uri="{9D8B030D-6E8A-4147-A177-3AD203B41FA5}">
                      <a16:colId xmlns:a16="http://schemas.microsoft.com/office/drawing/2014/main" val="1087525533"/>
                    </a:ext>
                  </a:extLst>
                </a:gridCol>
                <a:gridCol w="277622">
                  <a:extLst>
                    <a:ext uri="{9D8B030D-6E8A-4147-A177-3AD203B41FA5}">
                      <a16:colId xmlns:a16="http://schemas.microsoft.com/office/drawing/2014/main" val="395184735"/>
                    </a:ext>
                  </a:extLst>
                </a:gridCol>
                <a:gridCol w="277622">
                  <a:extLst>
                    <a:ext uri="{9D8B030D-6E8A-4147-A177-3AD203B41FA5}">
                      <a16:colId xmlns:a16="http://schemas.microsoft.com/office/drawing/2014/main" val="1183422358"/>
                    </a:ext>
                  </a:extLst>
                </a:gridCol>
                <a:gridCol w="277622">
                  <a:extLst>
                    <a:ext uri="{9D8B030D-6E8A-4147-A177-3AD203B41FA5}">
                      <a16:colId xmlns:a16="http://schemas.microsoft.com/office/drawing/2014/main" val="2536546410"/>
                    </a:ext>
                  </a:extLst>
                </a:gridCol>
                <a:gridCol w="277622">
                  <a:extLst>
                    <a:ext uri="{9D8B030D-6E8A-4147-A177-3AD203B41FA5}">
                      <a16:colId xmlns:a16="http://schemas.microsoft.com/office/drawing/2014/main" val="1718685917"/>
                    </a:ext>
                  </a:extLst>
                </a:gridCol>
                <a:gridCol w="277622">
                  <a:extLst>
                    <a:ext uri="{9D8B030D-6E8A-4147-A177-3AD203B41FA5}">
                      <a16:colId xmlns:a16="http://schemas.microsoft.com/office/drawing/2014/main" val="1830748859"/>
                    </a:ext>
                  </a:extLst>
                </a:gridCol>
                <a:gridCol w="277622">
                  <a:extLst>
                    <a:ext uri="{9D8B030D-6E8A-4147-A177-3AD203B41FA5}">
                      <a16:colId xmlns:a16="http://schemas.microsoft.com/office/drawing/2014/main" val="3564937856"/>
                    </a:ext>
                  </a:extLst>
                </a:gridCol>
              </a:tblGrid>
              <a:tr h="277622">
                <a:tc>
                  <a:txBody>
                    <a:bodyPr/>
                    <a:lstStyle/>
                    <a:p>
                      <a:r>
                        <a:rPr lang="en-US" sz="800"/>
                        <a:t>0.00</a:t>
                      </a:r>
                      <a:endParaRPr lang="en-NL" sz="800"/>
                    </a:p>
                  </a:txBody>
                  <a:tcPr marL="39130" marR="39130" marT="19565" marB="195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14898"/>
                  </a:ext>
                </a:extLst>
              </a:tr>
              <a:tr h="277622"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/>
                        <a:t>0.00</a:t>
                      </a:r>
                      <a:endParaRPr lang="en-NL" sz="800"/>
                    </a:p>
                  </a:txBody>
                  <a:tcPr marL="39130" marR="39130" marT="19565" marB="195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685819"/>
                  </a:ext>
                </a:extLst>
              </a:tr>
              <a:tr h="277622"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0.00</a:t>
                      </a:r>
                    </a:p>
                  </a:txBody>
                  <a:tcPr marL="39130" marR="39130" marT="19565" marB="195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619261"/>
                  </a:ext>
                </a:extLst>
              </a:tr>
              <a:tr h="277622"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0.00</a:t>
                      </a:r>
                    </a:p>
                  </a:txBody>
                  <a:tcPr marL="39130" marR="39130" marT="19565" marB="195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239705"/>
                  </a:ext>
                </a:extLst>
              </a:tr>
              <a:tr h="277622"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0.00</a:t>
                      </a:r>
                    </a:p>
                  </a:txBody>
                  <a:tcPr marL="39130" marR="39130" marT="19565" marB="195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353672"/>
                  </a:ext>
                </a:extLst>
              </a:tr>
              <a:tr h="277622"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0.00</a:t>
                      </a:r>
                    </a:p>
                  </a:txBody>
                  <a:tcPr marL="39130" marR="39130" marT="19565" marB="195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838295"/>
                  </a:ext>
                </a:extLst>
              </a:tr>
              <a:tr h="277622"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0.00</a:t>
                      </a:r>
                    </a:p>
                  </a:txBody>
                  <a:tcPr marL="39130" marR="39130" marT="19565" marB="195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553366"/>
                  </a:ext>
                </a:extLst>
              </a:tr>
              <a:tr h="277622"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0.00</a:t>
                      </a:r>
                    </a:p>
                  </a:txBody>
                  <a:tcPr marL="39130" marR="39130" marT="19565" marB="1956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906765"/>
                  </a:ext>
                </a:extLst>
              </a:tr>
              <a:tr h="277622"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0.00</a:t>
                      </a:r>
                    </a:p>
                  </a:txBody>
                  <a:tcPr marL="39130" marR="39130" marT="19565" marB="19565"/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50414"/>
                  </a:ext>
                </a:extLst>
              </a:tr>
              <a:tr h="277622"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0.00</a:t>
                      </a:r>
                    </a:p>
                  </a:txBody>
                  <a:tcPr marL="39130" marR="39130" marT="19565" marB="19565"/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394350"/>
                  </a:ext>
                </a:extLst>
              </a:tr>
              <a:tr h="277622"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0.00</a:t>
                      </a:r>
                    </a:p>
                  </a:txBody>
                  <a:tcPr marL="39130" marR="39130" marT="19565" marB="19565"/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96599"/>
                  </a:ext>
                </a:extLst>
              </a:tr>
              <a:tr h="277622"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0.03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0.10</a:t>
                      </a:r>
                    </a:p>
                  </a:txBody>
                  <a:tcPr marL="39130" marR="39130" marT="19565" marB="19565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NL" sz="800"/>
                        <a:t>0.00</a:t>
                      </a:r>
                    </a:p>
                  </a:txBody>
                  <a:tcPr marL="39130" marR="39130" marT="19565" marB="19565"/>
                </a:tc>
                <a:extLst>
                  <a:ext uri="{0D108BD9-81ED-4DB2-BD59-A6C34878D82A}">
                    <a16:rowId xmlns:a16="http://schemas.microsoft.com/office/drawing/2014/main" val="301026570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D400E8D0-A80A-D1FC-153C-1E245254C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822" y="3154680"/>
            <a:ext cx="2871978" cy="28719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5E5524-4090-4D7A-153E-0AB2E3295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11" y="3429000"/>
            <a:ext cx="3596754" cy="17983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1C5EBE-2FBF-4ACC-AD09-C91456D7E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355" y="5227377"/>
            <a:ext cx="3793465" cy="2238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C8B90-8E42-D95E-7FDF-1D867B6B0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18560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ECE3-F3D2-6458-DF2F-91939ECA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van der Maas et al. (2006)</a:t>
            </a:r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C27916-8501-E50A-A850-CA151BBAACE9}"/>
                  </a:ext>
                </a:extLst>
              </p:cNvPr>
              <p:cNvSpPr txBox="1"/>
              <p:nvPr/>
            </p:nvSpPr>
            <p:spPr>
              <a:xfrm>
                <a:off x="4297623" y="1690688"/>
                <a:ext cx="3664914" cy="1004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NL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L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NL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C27916-8501-E50A-A850-CA151BBAA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23" y="1690688"/>
                <a:ext cx="3664914" cy="10045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613780-82EE-E796-9E70-2A416C283DEC}"/>
                  </a:ext>
                </a:extLst>
              </p:cNvPr>
              <p:cNvSpPr txBox="1"/>
              <p:nvPr/>
            </p:nvSpPr>
            <p:spPr>
              <a:xfrm>
                <a:off x="2079768" y="3429000"/>
                <a:ext cx="352958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/>
                  <a:t>Produces positive manifold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613780-82EE-E796-9E70-2A416C283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768" y="3429000"/>
                <a:ext cx="3529584" cy="646331"/>
              </a:xfrm>
              <a:prstGeom prst="rect">
                <a:avLst/>
              </a:prstGeom>
              <a:blipFill>
                <a:blip r:embed="rId3"/>
                <a:stretch>
                  <a:fillRect l="-1382" t="-5660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E1B187-1C08-06BE-B5BB-BAC8BC9D691E}"/>
                  </a:ext>
                </a:extLst>
              </p:cNvPr>
              <p:cNvSpPr txBox="1"/>
              <p:nvPr/>
            </p:nvSpPr>
            <p:spPr>
              <a:xfrm>
                <a:off x="1957138" y="3129687"/>
                <a:ext cx="2677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𝐌</m:t>
                    </m:r>
                  </m:oMath>
                </a14:m>
                <a:r>
                  <a:rPr lang="en-US"/>
                  <a:t>:</a:t>
                </a:r>
                <a:endParaRPr lang="en-NL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E1B187-1C08-06BE-B5BB-BAC8BC9D6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138" y="3129687"/>
                <a:ext cx="267702" cy="276999"/>
              </a:xfrm>
              <a:prstGeom prst="rect">
                <a:avLst/>
              </a:prstGeom>
              <a:blipFill>
                <a:blip r:embed="rId4"/>
                <a:stretch>
                  <a:fillRect l="-29545" t="-28261" r="-5000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819703-8827-B0A1-C656-BED00912BE22}"/>
                  </a:ext>
                </a:extLst>
              </p:cNvPr>
              <p:cNvSpPr txBox="1"/>
              <p:nvPr/>
            </p:nvSpPr>
            <p:spPr>
              <a:xfrm>
                <a:off x="6705280" y="3124830"/>
                <a:ext cx="7966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/>
                  <a:t>:</a:t>
                </a:r>
                <a:endParaRPr lang="en-NL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819703-8827-B0A1-C656-BED00912B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280" y="3124830"/>
                <a:ext cx="796693" cy="276999"/>
              </a:xfrm>
              <a:prstGeom prst="rect">
                <a:avLst/>
              </a:prstGeom>
              <a:blipFill>
                <a:blip r:embed="rId5"/>
                <a:stretch>
                  <a:fillRect l="-11450" t="-28889" r="-15267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B69111F-955F-571E-F40B-7F11D4FF5891}"/>
              </a:ext>
            </a:extLst>
          </p:cNvPr>
          <p:cNvSpPr txBox="1"/>
          <p:nvPr/>
        </p:nvSpPr>
        <p:spPr>
          <a:xfrm>
            <a:off x="7312501" y="3401829"/>
            <a:ext cx="35295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Left uncorrelated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Correlated = “g like scenario”:</a:t>
            </a:r>
          </a:p>
          <a:p>
            <a:r>
              <a:rPr lang="en-US"/>
              <a:t>	- all high</a:t>
            </a:r>
          </a:p>
          <a:p>
            <a:r>
              <a:rPr lang="en-US"/>
              <a:t>	- all 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F2AD90-7B2A-70C3-48EF-79AE424D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3100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F6D9-0974-321C-0A57-B02EFDEF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Overlap?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0069A59-F7EA-3FB0-452D-26EB8369B4ED}"/>
              </a:ext>
            </a:extLst>
          </p:cNvPr>
          <p:cNvSpPr/>
          <p:nvPr/>
        </p:nvSpPr>
        <p:spPr>
          <a:xfrm>
            <a:off x="838200" y="2843784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5CD892-C9F7-A375-CB68-D31CA455E0D5}"/>
              </a:ext>
            </a:extLst>
          </p:cNvPr>
          <p:cNvSpPr/>
          <p:nvPr/>
        </p:nvSpPr>
        <p:spPr>
          <a:xfrm>
            <a:off x="2331722" y="2843784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42C30D-2153-586E-9F08-F1C4FBFCC750}"/>
              </a:ext>
            </a:extLst>
          </p:cNvPr>
          <p:cNvSpPr/>
          <p:nvPr/>
        </p:nvSpPr>
        <p:spPr>
          <a:xfrm>
            <a:off x="4764024" y="2843784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D3F501-D26F-AA3F-25E0-C58AA4A1A2AA}"/>
              </a:ext>
            </a:extLst>
          </p:cNvPr>
          <p:cNvSpPr/>
          <p:nvPr/>
        </p:nvSpPr>
        <p:spPr>
          <a:xfrm>
            <a:off x="6257546" y="2843784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980F33E-1B39-D207-DE19-BB34A3B9D78D}"/>
              </a:ext>
            </a:extLst>
          </p:cNvPr>
          <p:cNvSpPr/>
          <p:nvPr/>
        </p:nvSpPr>
        <p:spPr>
          <a:xfrm>
            <a:off x="8689848" y="2843784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15A8EE7-59FE-12EB-52FD-6EDCDC509081}"/>
              </a:ext>
            </a:extLst>
          </p:cNvPr>
          <p:cNvSpPr/>
          <p:nvPr/>
        </p:nvSpPr>
        <p:spPr>
          <a:xfrm>
            <a:off x="10183368" y="2843784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C1855-03B2-B71F-3D27-05D637B8C40C}"/>
              </a:ext>
            </a:extLst>
          </p:cNvPr>
          <p:cNvSpPr txBox="1"/>
          <p:nvPr/>
        </p:nvSpPr>
        <p:spPr>
          <a:xfrm>
            <a:off x="731520" y="2474452"/>
            <a:ext cx="138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Memory</a:t>
            </a:r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B1B2AE-B44F-6995-D976-C7DEA9A0F678}"/>
                  </a:ext>
                </a:extLst>
              </p:cNvPr>
              <p:cNvSpPr txBox="1"/>
              <p:nvPr/>
            </p:nvSpPr>
            <p:spPr>
              <a:xfrm>
                <a:off x="1302005" y="3290500"/>
                <a:ext cx="2428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8B1B2AE-B44F-6995-D976-C7DEA9A0F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005" y="3290500"/>
                <a:ext cx="242822" cy="276999"/>
              </a:xfrm>
              <a:prstGeom prst="rect">
                <a:avLst/>
              </a:prstGeom>
              <a:blipFill>
                <a:blip r:embed="rId2"/>
                <a:stretch>
                  <a:fillRect l="-25641" r="-7692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3C8555-400B-5985-2C73-072AF60FAF75}"/>
                  </a:ext>
                </a:extLst>
              </p:cNvPr>
              <p:cNvSpPr txBox="1"/>
              <p:nvPr/>
            </p:nvSpPr>
            <p:spPr>
              <a:xfrm>
                <a:off x="2795527" y="3290500"/>
                <a:ext cx="241541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3C8555-400B-5985-2C73-072AF60FA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527" y="3290500"/>
                <a:ext cx="241541" cy="299313"/>
              </a:xfrm>
              <a:prstGeom prst="rect">
                <a:avLst/>
              </a:prstGeom>
              <a:blipFill>
                <a:blip r:embed="rId3"/>
                <a:stretch>
                  <a:fillRect l="-25641" r="-17949" b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1BA2AA-B74C-397B-5221-8BE9432B33D3}"/>
                  </a:ext>
                </a:extLst>
              </p:cNvPr>
              <p:cNvSpPr txBox="1"/>
              <p:nvPr/>
            </p:nvSpPr>
            <p:spPr>
              <a:xfrm>
                <a:off x="5227829" y="3290499"/>
                <a:ext cx="2428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C1BA2AA-B74C-397B-5221-8BE9432B3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829" y="3290499"/>
                <a:ext cx="242822" cy="276999"/>
              </a:xfrm>
              <a:prstGeom prst="rect">
                <a:avLst/>
              </a:prstGeom>
              <a:blipFill>
                <a:blip r:embed="rId2"/>
                <a:stretch>
                  <a:fillRect l="-25641" r="-7692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B20DE6-A16D-A72C-1E83-4136F7B4C1E8}"/>
                  </a:ext>
                </a:extLst>
              </p:cNvPr>
              <p:cNvSpPr txBox="1"/>
              <p:nvPr/>
            </p:nvSpPr>
            <p:spPr>
              <a:xfrm>
                <a:off x="6721351" y="3290499"/>
                <a:ext cx="241541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5B20DE6-A16D-A72C-1E83-4136F7B4C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351" y="3290499"/>
                <a:ext cx="241541" cy="299313"/>
              </a:xfrm>
              <a:prstGeom prst="rect">
                <a:avLst/>
              </a:prstGeom>
              <a:blipFill>
                <a:blip r:embed="rId3"/>
                <a:stretch>
                  <a:fillRect l="-25641" r="-17949" b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7A85CC-3629-3C94-B4B2-5F24BC39B302}"/>
                  </a:ext>
                </a:extLst>
              </p:cNvPr>
              <p:cNvSpPr txBox="1"/>
              <p:nvPr/>
            </p:nvSpPr>
            <p:spPr>
              <a:xfrm>
                <a:off x="9153653" y="3290498"/>
                <a:ext cx="2428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7A85CC-3629-3C94-B4B2-5F24BC39B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653" y="3290498"/>
                <a:ext cx="242822" cy="276999"/>
              </a:xfrm>
              <a:prstGeom prst="rect">
                <a:avLst/>
              </a:prstGeom>
              <a:blipFill>
                <a:blip r:embed="rId2"/>
                <a:stretch>
                  <a:fillRect l="-25641" r="-7692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4E9B26-A90B-65E1-5AB1-9DA00960BD93}"/>
                  </a:ext>
                </a:extLst>
              </p:cNvPr>
              <p:cNvSpPr txBox="1"/>
              <p:nvPr/>
            </p:nvSpPr>
            <p:spPr>
              <a:xfrm>
                <a:off x="10647173" y="3290498"/>
                <a:ext cx="241541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4E9B26-A90B-65E1-5AB1-9DA00960B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7173" y="3290498"/>
                <a:ext cx="241541" cy="299313"/>
              </a:xfrm>
              <a:prstGeom prst="rect">
                <a:avLst/>
              </a:prstGeom>
              <a:blipFill>
                <a:blip r:embed="rId3"/>
                <a:stretch>
                  <a:fillRect l="-25641" r="-17949" b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3C266470-DE8A-246B-3B0D-3D634E3B9436}"/>
              </a:ext>
            </a:extLst>
          </p:cNvPr>
          <p:cNvSpPr txBox="1"/>
          <p:nvPr/>
        </p:nvSpPr>
        <p:spPr>
          <a:xfrm>
            <a:off x="2193665" y="2197448"/>
            <a:ext cx="1433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Startle response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964336F-18AC-DA98-7766-C7911C222509}"/>
              </a:ext>
            </a:extLst>
          </p:cNvPr>
          <p:cNvCxnSpPr>
            <a:stCxn id="3" idx="7"/>
            <a:endCxn id="5" idx="1"/>
          </p:cNvCxnSpPr>
          <p:nvPr/>
        </p:nvCxnSpPr>
        <p:spPr>
          <a:xfrm>
            <a:off x="1837226" y="3015190"/>
            <a:ext cx="66590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9C09C05-BF04-A66E-2E58-9D1E510A23AD}"/>
              </a:ext>
            </a:extLst>
          </p:cNvPr>
          <p:cNvCxnSpPr>
            <a:stCxn id="5" idx="3"/>
            <a:endCxn id="3" idx="5"/>
          </p:cNvCxnSpPr>
          <p:nvPr/>
        </p:nvCxnSpPr>
        <p:spPr>
          <a:xfrm flipH="1">
            <a:off x="1837226" y="3842810"/>
            <a:ext cx="66590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4935908-D5A8-512D-FC56-CF4C1A27033B}"/>
              </a:ext>
            </a:extLst>
          </p:cNvPr>
          <p:cNvSpPr txBox="1"/>
          <p:nvPr/>
        </p:nvSpPr>
        <p:spPr>
          <a:xfrm>
            <a:off x="8607552" y="2197448"/>
            <a:ext cx="1335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Verbal intelligence</a:t>
            </a:r>
            <a:endParaRPr lang="en-NL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AF9ECA-74C1-7651-33F9-5AC8D2348D01}"/>
              </a:ext>
            </a:extLst>
          </p:cNvPr>
          <p:cNvSpPr txBox="1"/>
          <p:nvPr/>
        </p:nvSpPr>
        <p:spPr>
          <a:xfrm>
            <a:off x="10020929" y="1920449"/>
            <a:ext cx="1494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Verbal intelligence +1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91EC73-CD99-EA07-E875-FA46FC58ADA9}"/>
              </a:ext>
            </a:extLst>
          </p:cNvPr>
          <p:cNvSpPr txBox="1"/>
          <p:nvPr/>
        </p:nvSpPr>
        <p:spPr>
          <a:xfrm>
            <a:off x="4681728" y="2197448"/>
            <a:ext cx="1335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Verbal intelligence</a:t>
            </a:r>
            <a:endParaRPr lang="en-NL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6F55B7-FC43-0423-1C81-1A681FCED321}"/>
              </a:ext>
            </a:extLst>
          </p:cNvPr>
          <p:cNvSpPr txBox="1"/>
          <p:nvPr/>
        </p:nvSpPr>
        <p:spPr>
          <a:xfrm>
            <a:off x="6278121" y="2480024"/>
            <a:ext cx="113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Creativity</a:t>
            </a:r>
            <a:endParaRPr lang="en-NL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DA67B62-9AC0-34C0-1735-DD0FBAAC3BBC}"/>
              </a:ext>
            </a:extLst>
          </p:cNvPr>
          <p:cNvSpPr/>
          <p:nvPr/>
        </p:nvSpPr>
        <p:spPr>
          <a:xfrm>
            <a:off x="5349240" y="4294632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8AF4544-00EF-8145-D258-59B1DA527A8D}"/>
              </a:ext>
            </a:extLst>
          </p:cNvPr>
          <p:cNvSpPr/>
          <p:nvPr/>
        </p:nvSpPr>
        <p:spPr>
          <a:xfrm>
            <a:off x="5671689" y="4294632"/>
            <a:ext cx="1170432" cy="117043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8A3DFC8-37F3-63C6-6BEB-E1D2A49837D9}"/>
              </a:ext>
            </a:extLst>
          </p:cNvPr>
          <p:cNvCxnSpPr>
            <a:cxnSpLocks/>
            <a:endCxn id="42" idx="0"/>
          </p:cNvCxnSpPr>
          <p:nvPr/>
        </p:nvCxnSpPr>
        <p:spPr>
          <a:xfrm flipH="1">
            <a:off x="5934456" y="4014216"/>
            <a:ext cx="161544" cy="280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B63F6DC-D90C-2A84-EFB3-1B3F1C893B9B}"/>
              </a:ext>
            </a:extLst>
          </p:cNvPr>
          <p:cNvCxnSpPr>
            <a:stCxn id="43" idx="0"/>
          </p:cNvCxnSpPr>
          <p:nvPr/>
        </p:nvCxnSpPr>
        <p:spPr>
          <a:xfrm flipH="1" flipV="1">
            <a:off x="6096000" y="4014216"/>
            <a:ext cx="160905" cy="2804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19DF783-7263-7DBB-8F5C-1380E4542F0D}"/>
              </a:ext>
            </a:extLst>
          </p:cNvPr>
          <p:cNvCxnSpPr>
            <a:cxnSpLocks/>
            <a:endCxn id="43" idx="4"/>
          </p:cNvCxnSpPr>
          <p:nvPr/>
        </p:nvCxnSpPr>
        <p:spPr>
          <a:xfrm flipV="1">
            <a:off x="6096000" y="5465064"/>
            <a:ext cx="160905" cy="280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B5BED08-000B-58E4-A192-EFF3F3ABDACF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5934456" y="5465064"/>
            <a:ext cx="161544" cy="2804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7A977AC-A227-5B26-CCBC-5E2420F93265}"/>
                  </a:ext>
                </a:extLst>
              </p:cNvPr>
              <p:cNvSpPr txBox="1"/>
              <p:nvPr/>
            </p:nvSpPr>
            <p:spPr>
              <a:xfrm>
                <a:off x="6136134" y="4730191"/>
                <a:ext cx="241541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7A977AC-A227-5B26-CCBC-5E2420F93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134" y="4730191"/>
                <a:ext cx="241541" cy="299313"/>
              </a:xfrm>
              <a:prstGeom prst="rect">
                <a:avLst/>
              </a:prstGeom>
              <a:blipFill>
                <a:blip r:embed="rId3"/>
                <a:stretch>
                  <a:fillRect l="-25641" r="-17949" b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625CB-A7A5-B03C-E957-ECAB2CDB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8096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 L 0.0612 0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0 L -0.06132 0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 L 0.0612 0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21" grpId="0"/>
      <p:bldP spid="23" grpId="0"/>
      <p:bldP spid="25" grpId="0"/>
      <p:bldP spid="25" grpId="1"/>
      <p:bldP spid="25" grpId="2"/>
      <p:bldP spid="27" grpId="0"/>
      <p:bldP spid="40" grpId="0"/>
      <p:bldP spid="41" grpId="0"/>
      <p:bldP spid="42" grpId="0" animBg="1"/>
      <p:bldP spid="43" grpId="0" animBg="1"/>
      <p:bldP spid="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95FEEA-89D6-E399-561D-13BD6D740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55732" y="1561728"/>
            <a:ext cx="5438200" cy="5438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2B7DF8-7082-61C7-68CC-F48DBC636DA5}"/>
                  </a:ext>
                </a:extLst>
              </p:cNvPr>
              <p:cNvSpPr txBox="1"/>
              <p:nvPr/>
            </p:nvSpPr>
            <p:spPr>
              <a:xfrm>
                <a:off x="5786828" y="406769"/>
                <a:ext cx="5566972" cy="5633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+(1−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2B7DF8-7082-61C7-68CC-F48DBC636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828" y="406769"/>
                <a:ext cx="5566972" cy="5633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AEFA29-6CAC-DEE8-EC31-5710F15F3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171451"/>
              </p:ext>
            </p:extLst>
          </p:nvPr>
        </p:nvGraphicFramePr>
        <p:xfrm>
          <a:off x="3985931" y="2240372"/>
          <a:ext cx="1680464" cy="3749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0464">
                  <a:extLst>
                    <a:ext uri="{9D8B030D-6E8A-4147-A177-3AD203B41FA5}">
                      <a16:colId xmlns:a16="http://schemas.microsoft.com/office/drawing/2014/main" val="1791655310"/>
                    </a:ext>
                  </a:extLst>
                </a:gridCol>
              </a:tblGrid>
              <a:tr h="360910">
                <a:tc>
                  <a:txBody>
                    <a:bodyPr/>
                    <a:lstStyle/>
                    <a:p>
                      <a:r>
                        <a:rPr lang="en-US" err="1"/>
                        <a:t>rnorm</a:t>
                      </a:r>
                      <a:r>
                        <a:rPr lang="en-US"/>
                        <a:t>(N, 10, 2) </a:t>
                      </a:r>
                      <a:endParaRPr lang="en-NL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938349"/>
                  </a:ext>
                </a:extLst>
              </a:tr>
              <a:tr h="3380413">
                <a:tc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11.471514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11.154167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10.760457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7.150420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12.032110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14.781509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12.037006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8.388079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9.424207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10.897638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8.450678</a:t>
                      </a:r>
                      <a:endParaRPr lang="en-US" sz="1800" b="0" i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latinLnBrk="1">
                        <a:lnSpc>
                          <a:spcPct val="100000"/>
                        </a:lnSpc>
                        <a:buNone/>
                      </a:pPr>
                      <a:r>
                        <a:rPr lang="en-NL" sz="1800" b="0" i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13.163547</a:t>
                      </a:r>
                      <a:endParaRPr lang="en-NL" sz="1000" b="0" i="0">
                        <a:solidFill>
                          <a:srgbClr val="000000"/>
                        </a:solidFill>
                        <a:effectLst/>
                        <a:latin typeface="Lucida Console" panose="020B0609040504020204" pitchFamily="49" charset="0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934170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DA02D58-A57B-77D4-548D-880B94427D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7670195"/>
                  </p:ext>
                </p:extLst>
              </p:nvPr>
            </p:nvGraphicFramePr>
            <p:xfrm>
              <a:off x="766272" y="2240372"/>
              <a:ext cx="1680464" cy="37490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80464">
                      <a:extLst>
                        <a:ext uri="{9D8B030D-6E8A-4147-A177-3AD203B41FA5}">
                          <a16:colId xmlns:a16="http://schemas.microsoft.com/office/drawing/2014/main" val="1791655310"/>
                        </a:ext>
                      </a:extLst>
                    </a:gridCol>
                  </a:tblGrid>
                  <a:tr h="3609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𝑛𝑒𝑤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NL"/>
                        </a:p>
                      </a:txBody>
                      <a:tcPr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98938349"/>
                      </a:ext>
                    </a:extLst>
                  </a:tr>
                  <a:tr h="33804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10.972901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10.845963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10.688479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9.244464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11.448470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12.548230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11.450429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9.990858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10.206460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10.795833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9.817049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11.702196</a:t>
                          </a:r>
                        </a:p>
                      </a:txBody>
                      <a:tcP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5934170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3DA02D58-A57B-77D4-548D-880B94427D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7670195"/>
                  </p:ext>
                </p:extLst>
              </p:nvPr>
            </p:nvGraphicFramePr>
            <p:xfrm>
              <a:off x="766272" y="2240372"/>
              <a:ext cx="1680464" cy="37490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680464">
                      <a:extLst>
                        <a:ext uri="{9D8B030D-6E8A-4147-A177-3AD203B41FA5}">
                          <a16:colId xmlns:a16="http://schemas.microsoft.com/office/drawing/2014/main" val="179165531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r="-361" b="-95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8938349"/>
                      </a:ext>
                    </a:extLst>
                  </a:tr>
                  <a:tr h="3383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10.972901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10.845963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10.688479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9.244464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11.448470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12.548230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11.450429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9.990858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10.206460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10.795833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9.817049</a:t>
                          </a:r>
                        </a:p>
                        <a:p>
                          <a:pPr algn="ctr" latinLnBrk="1"/>
                          <a:r>
                            <a:rPr lang="en-NL" sz="1800" b="0" i="0" kern="12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11.702196</a:t>
                          </a:r>
                        </a:p>
                      </a:txBody>
                      <a:tcP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59341706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8B5EB2-C994-553E-95C8-3BB02A95D944}"/>
              </a:ext>
            </a:extLst>
          </p:cNvPr>
          <p:cNvCxnSpPr>
            <a:cxnSpLocks/>
          </p:cNvCxnSpPr>
          <p:nvPr/>
        </p:nvCxnSpPr>
        <p:spPr>
          <a:xfrm flipH="1">
            <a:off x="2446736" y="2789012"/>
            <a:ext cx="1764700" cy="0"/>
          </a:xfrm>
          <a:prstGeom prst="straightConnector1">
            <a:avLst/>
          </a:prstGeom>
          <a:ln w="508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58B072-472E-021F-E61B-EFFA7791687F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144000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3D526A-3452-D8E6-6830-1A2F026AADD2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425765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999F8E-AC85-64F6-3132-81D2B41844A3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715786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0CEBA1-F541-8807-B79D-EAB0AE1538BA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967384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4EE0504-93C9-BFFA-4831-E0BAB66E6DE0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1215718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DC9BA3E-503D-B4BA-3862-424EA5CF5A47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1466148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4094D9A-5652-88D0-0360-A1DF5ADAB6A9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894600"/>
            <a:ext cx="1764700" cy="1800000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F433357-1A9A-F930-1CAB-FAAF80BBC09D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11888"/>
            <a:ext cx="1764700" cy="2057275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C397B88-CD37-60B6-C51A-69597402D0F7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894600"/>
            <a:ext cx="1764700" cy="2360891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BAF306-6BC3-AEF7-0D3B-F683FD178E75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947160"/>
            <a:ext cx="1764700" cy="2537393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0FFC554-2C1B-1D9D-6AFC-A2FFA6D906C9}"/>
              </a:ext>
            </a:extLst>
          </p:cNvPr>
          <p:cNvCxnSpPr>
            <a:cxnSpLocks/>
          </p:cNvCxnSpPr>
          <p:nvPr/>
        </p:nvCxnSpPr>
        <p:spPr>
          <a:xfrm flipH="1" flipV="1">
            <a:off x="2446736" y="2894600"/>
            <a:ext cx="1764700" cy="2868891"/>
          </a:xfrm>
          <a:prstGeom prst="straightConnector1">
            <a:avLst/>
          </a:prstGeom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4B844CA-5BE7-2A7E-C000-0314AEF84129}"/>
                  </a:ext>
                </a:extLst>
              </p:cNvPr>
              <p:cNvSpPr txBox="1"/>
              <p:nvPr/>
            </p:nvSpPr>
            <p:spPr>
              <a:xfrm>
                <a:off x="6525607" y="1792917"/>
                <a:ext cx="2789546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4B844CA-5BE7-2A7E-C000-0314AEF84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607" y="1792917"/>
                <a:ext cx="2789546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EAF4F7-51EB-9310-3FED-8A29E2F08DC9}"/>
                  </a:ext>
                </a:extLst>
              </p:cNvPr>
              <p:cNvSpPr txBox="1"/>
              <p:nvPr/>
            </p:nvSpPr>
            <p:spPr>
              <a:xfrm>
                <a:off x="7063793" y="3785475"/>
                <a:ext cx="242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EAF4F7-51EB-9310-3FED-8A29E2F08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793" y="3785475"/>
                <a:ext cx="242309" cy="276999"/>
              </a:xfrm>
              <a:prstGeom prst="rect">
                <a:avLst/>
              </a:prstGeom>
              <a:blipFill>
                <a:blip r:embed="rId6"/>
                <a:stretch>
                  <a:fillRect l="-15000" r="-500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eft Brace 4">
            <a:extLst>
              <a:ext uri="{FF2B5EF4-FFF2-40B4-BE49-F238E27FC236}">
                <a16:creationId xmlns:a16="http://schemas.microsoft.com/office/drawing/2014/main" id="{A5E5F0B5-62EA-0421-7CFD-AB6E9EA2968A}"/>
              </a:ext>
            </a:extLst>
          </p:cNvPr>
          <p:cNvSpPr/>
          <p:nvPr/>
        </p:nvSpPr>
        <p:spPr>
          <a:xfrm>
            <a:off x="7306615" y="3626070"/>
            <a:ext cx="234442" cy="59581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6EF28A-1D0F-7DAA-5719-4A93E4B9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6</a:t>
            </a:fld>
            <a:endParaRPr lang="en-NL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58FCDD59-77A1-E2C9-B531-7C5294D15924}"/>
              </a:ext>
            </a:extLst>
          </p:cNvPr>
          <p:cNvSpPr/>
          <p:nvPr/>
        </p:nvSpPr>
        <p:spPr>
          <a:xfrm rot="16200000">
            <a:off x="6611820" y="896328"/>
            <a:ext cx="315875" cy="371151"/>
          </a:xfrm>
          <a:prstGeom prst="leftBrac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537FF6E7-FE66-7AE1-4609-4749C72F1AA6}"/>
              </a:ext>
            </a:extLst>
          </p:cNvPr>
          <p:cNvSpPr/>
          <p:nvPr/>
        </p:nvSpPr>
        <p:spPr>
          <a:xfrm rot="16200000">
            <a:off x="8957611" y="211141"/>
            <a:ext cx="234442" cy="2057400"/>
          </a:xfrm>
          <a:prstGeom prst="leftBrac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A70ADC50-D77E-2899-BCE2-4BE266789113}"/>
              </a:ext>
            </a:extLst>
          </p:cNvPr>
          <p:cNvSpPr/>
          <p:nvPr/>
        </p:nvSpPr>
        <p:spPr>
          <a:xfrm rot="16200000">
            <a:off x="10702032" y="705294"/>
            <a:ext cx="234442" cy="1069094"/>
          </a:xfrm>
          <a:prstGeom prst="leftBrace">
            <a:avLst/>
          </a:prstGeom>
          <a:solidFill>
            <a:srgbClr val="CFC9FD"/>
          </a:solidFill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AD2543-04E3-8E82-0F5F-48ACD0424454}"/>
                  </a:ext>
                </a:extLst>
              </p:cNvPr>
              <p:cNvSpPr txBox="1"/>
              <p:nvPr/>
            </p:nvSpPr>
            <p:spPr>
              <a:xfrm>
                <a:off x="769218" y="1318316"/>
                <a:ext cx="1986120" cy="6283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NL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L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en-NL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FAD2543-04E3-8E82-0F5F-48ACD0424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18" y="1318316"/>
                <a:ext cx="1986120" cy="6283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B038CC-1481-E042-A38B-C0D84FCD51ED}"/>
                  </a:ext>
                </a:extLst>
              </p:cNvPr>
              <p:cNvSpPr txBox="1"/>
              <p:nvPr/>
            </p:nvSpPr>
            <p:spPr>
              <a:xfrm>
                <a:off x="766653" y="406769"/>
                <a:ext cx="1991251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NL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L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NL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B038CC-1481-E042-A38B-C0D84FCD5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53" y="406769"/>
                <a:ext cx="1991251" cy="6223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52618C-8978-0DE0-BEF7-9110D405EAAC}"/>
                  </a:ext>
                </a:extLst>
              </p:cNvPr>
              <p:cNvSpPr txBox="1"/>
              <p:nvPr/>
            </p:nvSpPr>
            <p:spPr>
              <a:xfrm>
                <a:off x="2757904" y="336498"/>
                <a:ext cx="1583895" cy="10045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eqAr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NL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52618C-8978-0DE0-BEF7-9110D405E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904" y="336498"/>
                <a:ext cx="1583895" cy="100450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5D9CF76-D54C-2925-A296-FBF50FCAE42F}"/>
              </a:ext>
            </a:extLst>
          </p:cNvPr>
          <p:cNvCxnSpPr>
            <a:cxnSpLocks/>
          </p:cNvCxnSpPr>
          <p:nvPr/>
        </p:nvCxnSpPr>
        <p:spPr>
          <a:xfrm>
            <a:off x="7480300" y="2406650"/>
            <a:ext cx="295318" cy="1126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5FBE513-00C5-B567-D831-82B680D1ADEB}"/>
              </a:ext>
            </a:extLst>
          </p:cNvPr>
          <p:cNvCxnSpPr>
            <a:cxnSpLocks/>
          </p:cNvCxnSpPr>
          <p:nvPr/>
        </p:nvCxnSpPr>
        <p:spPr>
          <a:xfrm flipH="1">
            <a:off x="8084453" y="2387600"/>
            <a:ext cx="202297" cy="1145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4BEC9E3-D98C-2BAC-5BA0-C9173A400649}"/>
              </a:ext>
            </a:extLst>
          </p:cNvPr>
          <p:cNvCxnSpPr>
            <a:cxnSpLocks/>
          </p:cNvCxnSpPr>
          <p:nvPr/>
        </p:nvCxnSpPr>
        <p:spPr>
          <a:xfrm flipH="1">
            <a:off x="8512280" y="2362200"/>
            <a:ext cx="638070" cy="1409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64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6" grpId="0"/>
      <p:bldP spid="6" grpId="0" animBg="1"/>
      <p:bldP spid="10" grpId="0" animBg="1"/>
      <p:bldP spid="11" grpId="0" animBg="1"/>
      <p:bldP spid="17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F99FDDA-508E-03B8-4DE7-BA783C8E3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343" y="-1"/>
            <a:ext cx="2857409" cy="25100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6330AB-E954-BEEF-0903-6CD48D219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49" y="0"/>
            <a:ext cx="2857410" cy="25100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9C4B4-4CBA-E399-FE7A-96EF8AF96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474" y="2552699"/>
            <a:ext cx="3793465" cy="2238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579ECA-4F21-5889-104D-537F7FEB6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2358" y="2881210"/>
            <a:ext cx="2709696" cy="270969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522224-18F6-0688-1CD5-AED6BCAAFC42}"/>
              </a:ext>
            </a:extLst>
          </p:cNvPr>
          <p:cNvCxnSpPr>
            <a:cxnSpLocks/>
          </p:cNvCxnSpPr>
          <p:nvPr/>
        </p:nvCxnSpPr>
        <p:spPr>
          <a:xfrm>
            <a:off x="6154752" y="400050"/>
            <a:ext cx="0" cy="475297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7108BB6C-482E-D477-5CF6-FA96B85D28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061" y="2586037"/>
            <a:ext cx="3727196" cy="1955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75B480A-69EF-1FE0-E215-CFB99CBA6B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7723" y="2881210"/>
            <a:ext cx="2707871" cy="270787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97843ED-7397-65A1-72D2-C519FE651450}"/>
              </a:ext>
            </a:extLst>
          </p:cNvPr>
          <p:cNvSpPr txBox="1"/>
          <p:nvPr/>
        </p:nvSpPr>
        <p:spPr>
          <a:xfrm>
            <a:off x="4235275" y="5589081"/>
            <a:ext cx="383895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i="1"/>
              <a:t>Theoretical/Practical</a:t>
            </a:r>
          </a:p>
          <a:p>
            <a:pPr algn="ctr"/>
            <a:r>
              <a:rPr lang="en-US" sz="2400" i="1"/>
              <a:t>considerations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0C7F93-227E-7633-5888-D502FF33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7</a:t>
            </a:fld>
            <a:endParaRPr lang="en-NL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F924896E-4AB8-E2BA-1A8B-ABBF197FAB9F}"/>
              </a:ext>
            </a:extLst>
          </p:cNvPr>
          <p:cNvSpPr/>
          <p:nvPr/>
        </p:nvSpPr>
        <p:spPr>
          <a:xfrm>
            <a:off x="10259078" y="727144"/>
            <a:ext cx="548640" cy="548640"/>
          </a:xfrm>
          <a:prstGeom prst="flowChartConnector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5F7824D8-EF42-7316-763D-9AE389B4F731}"/>
              </a:ext>
            </a:extLst>
          </p:cNvPr>
          <p:cNvSpPr/>
          <p:nvPr/>
        </p:nvSpPr>
        <p:spPr>
          <a:xfrm>
            <a:off x="11251116" y="727144"/>
            <a:ext cx="548640" cy="548640"/>
          </a:xfrm>
          <a:prstGeom prst="flowChartConnector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Curved Down 24">
            <a:extLst>
              <a:ext uri="{FF2B5EF4-FFF2-40B4-BE49-F238E27FC236}">
                <a16:creationId xmlns:a16="http://schemas.microsoft.com/office/drawing/2014/main" id="{265F61EF-395B-ACDE-19DA-0F843E178F88}"/>
              </a:ext>
            </a:extLst>
          </p:cNvPr>
          <p:cNvSpPr/>
          <p:nvPr/>
        </p:nvSpPr>
        <p:spPr>
          <a:xfrm>
            <a:off x="10530842" y="352324"/>
            <a:ext cx="1010970" cy="37722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Arrow: Curved Down 27">
            <a:extLst>
              <a:ext uri="{FF2B5EF4-FFF2-40B4-BE49-F238E27FC236}">
                <a16:creationId xmlns:a16="http://schemas.microsoft.com/office/drawing/2014/main" id="{7D5087FB-C901-205C-35BA-6763A838A788}"/>
              </a:ext>
            </a:extLst>
          </p:cNvPr>
          <p:cNvSpPr/>
          <p:nvPr/>
        </p:nvSpPr>
        <p:spPr>
          <a:xfrm rot="10800000">
            <a:off x="10516465" y="1272474"/>
            <a:ext cx="1010970" cy="37722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1695FE-1DCD-688A-B3CB-9BD0C49A56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71691" y="-248705"/>
            <a:ext cx="2510075" cy="25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801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1E66FA-E036-23ED-3D27-B39E11E38E7A}"/>
              </a:ext>
            </a:extLst>
          </p:cNvPr>
          <p:cNvSpPr txBox="1"/>
          <p:nvPr/>
        </p:nvSpPr>
        <p:spPr>
          <a:xfrm>
            <a:off x="3055600" y="219677"/>
            <a:ext cx="616278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chemeClr val="tx2">
                    <a:lumMod val="90000"/>
                    <a:lumOff val="10000"/>
                  </a:schemeClr>
                </a:solidFill>
              </a:rPr>
              <a:t>What other boats are in the marina?</a:t>
            </a:r>
            <a:endParaRPr lang="en-US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algn="ctr"/>
            <a:r>
              <a:rPr lang="en-US" sz="3000" b="1"/>
              <a:t>"g" versus bonds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B40BD0-92B3-2529-DD74-6997F2BB0A9A}"/>
              </a:ext>
            </a:extLst>
          </p:cNvPr>
          <p:cNvSpPr txBox="1"/>
          <p:nvPr/>
        </p:nvSpPr>
        <p:spPr>
          <a:xfrm>
            <a:off x="520104" y="2590483"/>
            <a:ext cx="11158187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latin typeface="Arial"/>
                <a:cs typeface="Arial"/>
              </a:rPr>
              <a:t>“The [two-factor theory] looks upon g as being part of the test, while [sampling theory] looks upon the test as being part of g.” (Bartholomew, 575)</a:t>
            </a:r>
            <a:endParaRPr lang="en-US" sz="2000">
              <a:latin typeface="Arial"/>
              <a:cs typeface="Arial"/>
            </a:endParaRPr>
          </a:p>
          <a:p>
            <a:pPr algn="ctr"/>
            <a:endParaRPr lang="en-US" b="1">
              <a:latin typeface="Arial"/>
              <a:cs typeface="Arial"/>
            </a:endParaRPr>
          </a:p>
          <a:p>
            <a:pPr algn="ctr"/>
            <a:endParaRPr lang="en-US" b="1">
              <a:latin typeface="Arial"/>
              <a:cs typeface="Arial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Thomson's bonds/sampling model (1916) offers an alternative to Spearman's two-factor model:</a:t>
            </a:r>
          </a:p>
          <a:p>
            <a:endParaRPr lang="en-US">
              <a:latin typeface="Arial"/>
              <a:cs typeface="Arial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Per Thomson, the positive manifold reflects a measurement problem.</a:t>
            </a:r>
          </a:p>
          <a:p>
            <a:endParaRPr lang="en-US">
              <a:latin typeface="Arial"/>
              <a:cs typeface="Arial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>
                <a:latin typeface="Arial"/>
                <a:cs typeface="Arial"/>
              </a:rPr>
              <a:t>What is a 'bond'? 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>
              <a:latin typeface="Arial"/>
              <a:cs typeface="Arial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What are the implications of a top-down versus bottom-up explanation of mental capacity?</a:t>
            </a:r>
          </a:p>
          <a:p>
            <a:pPr marL="1257300" lvl="2" indent="-342900">
              <a:buFont typeface="Wingdings"/>
              <a:buChar char="§"/>
            </a:pPr>
            <a:r>
              <a:rPr lang="en-US">
                <a:solidFill>
                  <a:srgbClr val="0070C0"/>
                </a:solidFill>
                <a:latin typeface="Arial"/>
                <a:cs typeface="Arial"/>
              </a:rPr>
              <a:t>How does our choice of boat inform our assessment of the water conditions?</a:t>
            </a:r>
          </a:p>
          <a:p>
            <a:pPr lvl="1"/>
            <a:endParaRPr lang="en-US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24C5A0-0B39-7F8F-21F8-787DFBD1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8</a:t>
            </a:fld>
            <a:endParaRPr lang="en-NL"/>
          </a:p>
        </p:txBody>
      </p:sp>
      <p:pic>
        <p:nvPicPr>
          <p:cNvPr id="4" name="Picture 3" descr="A diagram of a complex structure&#10;&#10;AI-generated content may be incorrect.">
            <a:extLst>
              <a:ext uri="{FF2B5EF4-FFF2-40B4-BE49-F238E27FC236}">
                <a16:creationId xmlns:a16="http://schemas.microsoft.com/office/drawing/2014/main" id="{F00A1599-3ADD-34ED-708B-105EEA651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8864023" y="890994"/>
            <a:ext cx="3003550" cy="1515534"/>
          </a:xfrm>
          <a:prstGeom prst="rect">
            <a:avLst/>
          </a:prstGeom>
        </p:spPr>
      </p:pic>
      <p:pic>
        <p:nvPicPr>
          <p:cNvPr id="6" name="Picture 5" descr="A diagram of a complex equation&#10;&#10;AI-generated content may be incorrect.">
            <a:extLst>
              <a:ext uri="{FF2B5EF4-FFF2-40B4-BE49-F238E27FC236}">
                <a16:creationId xmlns:a16="http://schemas.microsoft.com/office/drawing/2014/main" id="{F8A2AAEC-572E-E460-87E9-6BB6F8B0C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45" y="218143"/>
            <a:ext cx="2652184" cy="13483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DF53DD-B756-E694-6C7A-9C87045D500F}"/>
              </a:ext>
            </a:extLst>
          </p:cNvPr>
          <p:cNvSpPr txBox="1"/>
          <p:nvPr/>
        </p:nvSpPr>
        <p:spPr>
          <a:xfrm>
            <a:off x="4765728" y="71033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15FF8-EDED-6166-D211-28A5F97F9AA2}"/>
              </a:ext>
            </a:extLst>
          </p:cNvPr>
          <p:cNvSpPr txBox="1"/>
          <p:nvPr/>
        </p:nvSpPr>
        <p:spPr>
          <a:xfrm>
            <a:off x="3547461" y="1575226"/>
            <a:ext cx="870857" cy="3201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7C0B8-BC09-A530-DBCA-2EB82C0B74B4}"/>
              </a:ext>
            </a:extLst>
          </p:cNvPr>
          <p:cNvSpPr txBox="1"/>
          <p:nvPr/>
        </p:nvSpPr>
        <p:spPr>
          <a:xfrm>
            <a:off x="4136571" y="1677680"/>
            <a:ext cx="2743199" cy="365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C04938-61E2-2749-B4BD-9E8F94A68AC3}"/>
              </a:ext>
            </a:extLst>
          </p:cNvPr>
          <p:cNvSpPr txBox="1"/>
          <p:nvPr/>
        </p:nvSpPr>
        <p:spPr>
          <a:xfrm>
            <a:off x="2784380" y="1078541"/>
            <a:ext cx="1080632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</a:rPr>
              <a:t>tests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2214B7-BD4F-FEF4-38BD-5C4D819588B0}"/>
              </a:ext>
            </a:extLst>
          </p:cNvPr>
          <p:cNvSpPr txBox="1"/>
          <p:nvPr/>
        </p:nvSpPr>
        <p:spPr>
          <a:xfrm>
            <a:off x="8609159" y="1078541"/>
            <a:ext cx="1080632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chemeClr val="accent3"/>
                </a:solidFill>
              </a:rPr>
              <a:t>tests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F3076F-E1E9-4000-5BE1-F20128E9A235}"/>
              </a:ext>
            </a:extLst>
          </p:cNvPr>
          <p:cNvSpPr txBox="1"/>
          <p:nvPr/>
        </p:nvSpPr>
        <p:spPr>
          <a:xfrm>
            <a:off x="1718872" y="310083"/>
            <a:ext cx="1681190" cy="2769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chemeClr val="tx2">
                    <a:lumMod val="49000"/>
                    <a:lumOff val="51000"/>
                  </a:schemeClr>
                </a:solidFill>
              </a:rPr>
              <a:t>common cause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1FF530-7E7C-B0C2-148C-936A3936F7CF}"/>
              </a:ext>
            </a:extLst>
          </p:cNvPr>
          <p:cNvSpPr txBox="1"/>
          <p:nvPr/>
        </p:nvSpPr>
        <p:spPr>
          <a:xfrm>
            <a:off x="7175566" y="1808253"/>
            <a:ext cx="1681190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sampled elementary processes</a:t>
            </a:r>
          </a:p>
        </p:txBody>
      </p:sp>
    </p:spTree>
    <p:extLst>
      <p:ext uri="{BB962C8B-B14F-4D97-AF65-F5344CB8AC3E}">
        <p14:creationId xmlns:p14="http://schemas.microsoft.com/office/powerpoint/2010/main" val="971247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3ED68-EC7B-6F64-28CB-0FF8E6C0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DC3F1E-2672-8BCD-1811-067A307422CB}"/>
              </a:ext>
            </a:extLst>
          </p:cNvPr>
          <p:cNvSpPr txBox="1"/>
          <p:nvPr/>
        </p:nvSpPr>
        <p:spPr>
          <a:xfrm>
            <a:off x="345455" y="384744"/>
            <a:ext cx="806866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Thomson's bonds model (sampling model)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BA7A3B-34D5-7FF0-E928-DF165948FF8A}"/>
              </a:ext>
            </a:extLst>
          </p:cNvPr>
          <p:cNvSpPr/>
          <p:nvPr/>
        </p:nvSpPr>
        <p:spPr>
          <a:xfrm>
            <a:off x="7273635" y="1587501"/>
            <a:ext cx="4216400" cy="428567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1A5A9FDA-E032-9104-343E-2865977AB042}"/>
              </a:ext>
            </a:extLst>
          </p:cNvPr>
          <p:cNvSpPr/>
          <p:nvPr/>
        </p:nvSpPr>
        <p:spPr>
          <a:xfrm>
            <a:off x="7870305" y="2469708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56C83DBA-D015-0D5B-029C-B44C7D0047F4}"/>
              </a:ext>
            </a:extLst>
          </p:cNvPr>
          <p:cNvSpPr/>
          <p:nvPr/>
        </p:nvSpPr>
        <p:spPr>
          <a:xfrm>
            <a:off x="9164948" y="3101541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CF0EB76F-96E8-3C10-A68C-3E7B668EA57E}"/>
              </a:ext>
            </a:extLst>
          </p:cNvPr>
          <p:cNvSpPr/>
          <p:nvPr/>
        </p:nvSpPr>
        <p:spPr>
          <a:xfrm>
            <a:off x="9536343" y="2020695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151207E2-5777-9DED-109C-360FF52F3484}"/>
              </a:ext>
            </a:extLst>
          </p:cNvPr>
          <p:cNvSpPr/>
          <p:nvPr/>
        </p:nvSpPr>
        <p:spPr>
          <a:xfrm>
            <a:off x="8907075" y="5225580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C57DC6F2-0C39-E0DD-C900-3240874759DE}"/>
              </a:ext>
            </a:extLst>
          </p:cNvPr>
          <p:cNvSpPr/>
          <p:nvPr/>
        </p:nvSpPr>
        <p:spPr>
          <a:xfrm>
            <a:off x="8086547" y="3567756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13D1AE48-47D7-46E7-4279-F4ABDC7F3B95}"/>
              </a:ext>
            </a:extLst>
          </p:cNvPr>
          <p:cNvSpPr/>
          <p:nvPr/>
        </p:nvSpPr>
        <p:spPr>
          <a:xfrm>
            <a:off x="7873386" y="4801678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D091D0C4-8DF2-2209-85C5-97E77CBE16A7}"/>
              </a:ext>
            </a:extLst>
          </p:cNvPr>
          <p:cNvSpPr/>
          <p:nvPr/>
        </p:nvSpPr>
        <p:spPr>
          <a:xfrm>
            <a:off x="10373445" y="4900750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0B8250-7146-7676-FFC4-C182AC0E8AE8}"/>
              </a:ext>
            </a:extLst>
          </p:cNvPr>
          <p:cNvSpPr txBox="1"/>
          <p:nvPr/>
        </p:nvSpPr>
        <p:spPr>
          <a:xfrm>
            <a:off x="8549409" y="6049818"/>
            <a:ext cx="15586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"Intelligence"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F1E2C48-F2D7-2E95-3D50-0428BD1FFB7F}"/>
              </a:ext>
            </a:extLst>
          </p:cNvPr>
          <p:cNvCxnSpPr/>
          <p:nvPr/>
        </p:nvCxnSpPr>
        <p:spPr>
          <a:xfrm flipH="1">
            <a:off x="8375595" y="1139798"/>
            <a:ext cx="601916" cy="1191024"/>
          </a:xfrm>
          <a:prstGeom prst="straightConnector1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CE553C4-5BE4-8A45-A194-9C86485FE8A2}"/>
              </a:ext>
            </a:extLst>
          </p:cNvPr>
          <p:cNvSpPr txBox="1"/>
          <p:nvPr/>
        </p:nvSpPr>
        <p:spPr>
          <a:xfrm>
            <a:off x="8769759" y="756751"/>
            <a:ext cx="9310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</a:rPr>
              <a:t>Bonds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3F440BD-7B2E-D86F-CF70-12327719110C}"/>
              </a:ext>
            </a:extLst>
          </p:cNvPr>
          <p:cNvCxnSpPr>
            <a:cxnSpLocks/>
          </p:cNvCxnSpPr>
          <p:nvPr/>
        </p:nvCxnSpPr>
        <p:spPr>
          <a:xfrm>
            <a:off x="9272065" y="1146202"/>
            <a:ext cx="230520" cy="755594"/>
          </a:xfrm>
          <a:prstGeom prst="straightConnector1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F24A5062-35AA-0137-3ABA-36F1E2B91143}"/>
              </a:ext>
            </a:extLst>
          </p:cNvPr>
          <p:cNvSpPr/>
          <p:nvPr/>
        </p:nvSpPr>
        <p:spPr>
          <a:xfrm>
            <a:off x="9489781" y="4209188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C28253F4-96C1-5B94-716F-459A59CCBFCB}"/>
              </a:ext>
            </a:extLst>
          </p:cNvPr>
          <p:cNvSpPr/>
          <p:nvPr/>
        </p:nvSpPr>
        <p:spPr>
          <a:xfrm>
            <a:off x="10379847" y="2633960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2DA8E4F8-2B4F-583D-85EC-C540ED1116C9}"/>
              </a:ext>
            </a:extLst>
          </p:cNvPr>
          <p:cNvSpPr/>
          <p:nvPr/>
        </p:nvSpPr>
        <p:spPr>
          <a:xfrm>
            <a:off x="10539931" y="3728935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B2A32A-DA1E-DE2A-D9E8-342B09A24F2D}"/>
                  </a:ext>
                </a:extLst>
              </p:cNvPr>
              <p:cNvSpPr txBox="1"/>
              <p:nvPr/>
            </p:nvSpPr>
            <p:spPr>
              <a:xfrm>
                <a:off x="7919150" y="2469708"/>
                <a:ext cx="2282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B2A32A-DA1E-DE2A-D9E8-342B09A24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150" y="2469708"/>
                <a:ext cx="228203" cy="276999"/>
              </a:xfrm>
              <a:prstGeom prst="rect">
                <a:avLst/>
              </a:prstGeom>
              <a:blipFill>
                <a:blip r:embed="rId3"/>
                <a:stretch>
                  <a:fillRect l="-15789" r="-7895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16FB9398-FC01-205D-05B9-EF539EDD3DA8}"/>
              </a:ext>
            </a:extLst>
          </p:cNvPr>
          <p:cNvGrpSpPr/>
          <p:nvPr/>
        </p:nvGrpSpPr>
        <p:grpSpPr>
          <a:xfrm>
            <a:off x="466217" y="1367161"/>
            <a:ext cx="5825136" cy="2503918"/>
            <a:chOff x="435532" y="1340837"/>
            <a:chExt cx="6512475" cy="2503918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531F601-04BA-5ADC-73C3-23E82D07870B}"/>
                </a:ext>
              </a:extLst>
            </p:cNvPr>
            <p:cNvSpPr txBox="1"/>
            <p:nvPr/>
          </p:nvSpPr>
          <p:spPr>
            <a:xfrm>
              <a:off x="435532" y="1340837"/>
              <a:ext cx="6512475" cy="171438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/>
                <a:t>Bonds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/>
                <a:t>Independent entities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/>
                <a:t>Individual effect,     , drawn from a normal distribution</a:t>
              </a:r>
            </a:p>
            <a:p>
              <a:pPr marL="742950" lvl="1" indent="-285750">
                <a:lnSpc>
                  <a:spcPct val="150000"/>
                </a:lnSpc>
                <a:buFont typeface="Arial"/>
                <a:buChar char="•"/>
              </a:pPr>
              <a:r>
                <a:rPr lang="en-US" i="1"/>
                <a:t>For simplicity, we used a standard normal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FAD8AAE-FAFE-45BD-9B4F-7A1AC728BB18}"/>
                    </a:ext>
                  </a:extLst>
                </p:cNvPr>
                <p:cNvSpPr txBox="1"/>
                <p:nvPr/>
              </p:nvSpPr>
              <p:spPr>
                <a:xfrm>
                  <a:off x="2734221" y="2283089"/>
                  <a:ext cx="22820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FAD8AAE-FAFE-45BD-9B4F-7A1AC728BB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4221" y="2283089"/>
                  <a:ext cx="22820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4242" r="-15152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089AD3F-F7DE-E24F-1233-539571EAED5D}"/>
                </a:ext>
              </a:extLst>
            </p:cNvPr>
            <p:cNvSpPr txBox="1"/>
            <p:nvPr/>
          </p:nvSpPr>
          <p:spPr>
            <a:xfrm>
              <a:off x="2752315" y="3567756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US" i="1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A3C98DD-E017-F502-20EA-009EE4F0664F}"/>
              </a:ext>
            </a:extLst>
          </p:cNvPr>
          <p:cNvSpPr txBox="1"/>
          <p:nvPr/>
        </p:nvSpPr>
        <p:spPr>
          <a:xfrm>
            <a:off x="466217" y="3348188"/>
            <a:ext cx="64472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# Individual bond effects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E &lt;- matrix(</a:t>
            </a:r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rnorm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(N, mean = 0, </a:t>
            </a:r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sd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 = 1), </a:t>
            </a:r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ncol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 = 1)</a:t>
            </a:r>
            <a:endParaRPr lang="en-US" sz="1500">
              <a:solidFill>
                <a:schemeClr val="accent5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9445798-953D-A2D4-5ACB-837BC910B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57960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8E7BE-5B89-E0F2-1A5C-048217A27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EED6DA-10E7-30E8-8E80-520B9CCF0A42}"/>
              </a:ext>
            </a:extLst>
          </p:cNvPr>
          <p:cNvSpPr txBox="1"/>
          <p:nvPr/>
        </p:nvSpPr>
        <p:spPr>
          <a:xfrm>
            <a:off x="345455" y="384744"/>
            <a:ext cx="806866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Thomson's bonds model (sampling model)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B0E8EC-18BA-F5E8-B9DF-4FB4DEB2E871}"/>
              </a:ext>
            </a:extLst>
          </p:cNvPr>
          <p:cNvSpPr/>
          <p:nvPr/>
        </p:nvSpPr>
        <p:spPr>
          <a:xfrm>
            <a:off x="7273635" y="1587501"/>
            <a:ext cx="4216400" cy="428567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A2A19092-DCE1-65C5-DD4D-08D6C36F2B84}"/>
              </a:ext>
            </a:extLst>
          </p:cNvPr>
          <p:cNvSpPr/>
          <p:nvPr/>
        </p:nvSpPr>
        <p:spPr>
          <a:xfrm>
            <a:off x="7870305" y="2469708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E6592221-6744-64BF-8EA1-DEA608589516}"/>
              </a:ext>
            </a:extLst>
          </p:cNvPr>
          <p:cNvSpPr/>
          <p:nvPr/>
        </p:nvSpPr>
        <p:spPr>
          <a:xfrm>
            <a:off x="9164948" y="3101541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DEDFAB58-9BEC-952D-FE2B-A6D19F7AB3AA}"/>
              </a:ext>
            </a:extLst>
          </p:cNvPr>
          <p:cNvSpPr/>
          <p:nvPr/>
        </p:nvSpPr>
        <p:spPr>
          <a:xfrm>
            <a:off x="9536343" y="2020695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0E460138-7B04-D4C2-1209-2FCF8B46A761}"/>
              </a:ext>
            </a:extLst>
          </p:cNvPr>
          <p:cNvSpPr/>
          <p:nvPr/>
        </p:nvSpPr>
        <p:spPr>
          <a:xfrm>
            <a:off x="8907075" y="5225580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6252101-F813-ED09-A9FB-8E6016D89B61}"/>
              </a:ext>
            </a:extLst>
          </p:cNvPr>
          <p:cNvSpPr/>
          <p:nvPr/>
        </p:nvSpPr>
        <p:spPr>
          <a:xfrm>
            <a:off x="8086547" y="3567756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A5EFDCC2-AA1D-EB32-E0BF-026BE5288BD3}"/>
              </a:ext>
            </a:extLst>
          </p:cNvPr>
          <p:cNvSpPr/>
          <p:nvPr/>
        </p:nvSpPr>
        <p:spPr>
          <a:xfrm>
            <a:off x="7873386" y="4801678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500B8AAA-B404-A796-31E8-A6A72363DCB8}"/>
              </a:ext>
            </a:extLst>
          </p:cNvPr>
          <p:cNvSpPr/>
          <p:nvPr/>
        </p:nvSpPr>
        <p:spPr>
          <a:xfrm>
            <a:off x="10373445" y="4900750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A8E925-83BD-F4D5-DA98-0318C7833352}"/>
              </a:ext>
            </a:extLst>
          </p:cNvPr>
          <p:cNvSpPr txBox="1"/>
          <p:nvPr/>
        </p:nvSpPr>
        <p:spPr>
          <a:xfrm>
            <a:off x="8549409" y="6049818"/>
            <a:ext cx="15586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"Intelligence"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59E559-7E6D-615F-9C44-7B8CA6ECEDE6}"/>
              </a:ext>
            </a:extLst>
          </p:cNvPr>
          <p:cNvCxnSpPr/>
          <p:nvPr/>
        </p:nvCxnSpPr>
        <p:spPr>
          <a:xfrm flipH="1">
            <a:off x="8375595" y="1139798"/>
            <a:ext cx="601916" cy="1191024"/>
          </a:xfrm>
          <a:prstGeom prst="straightConnector1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5FAA7B4-B2F7-938F-BF38-CCBEB90FA3D8}"/>
              </a:ext>
            </a:extLst>
          </p:cNvPr>
          <p:cNvSpPr txBox="1"/>
          <p:nvPr/>
        </p:nvSpPr>
        <p:spPr>
          <a:xfrm>
            <a:off x="8769759" y="756751"/>
            <a:ext cx="9310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</a:rPr>
              <a:t>Bonds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CF69ACC-1A49-6530-5686-85926296DF48}"/>
              </a:ext>
            </a:extLst>
          </p:cNvPr>
          <p:cNvCxnSpPr>
            <a:cxnSpLocks/>
          </p:cNvCxnSpPr>
          <p:nvPr/>
        </p:nvCxnSpPr>
        <p:spPr>
          <a:xfrm>
            <a:off x="9272065" y="1146202"/>
            <a:ext cx="230520" cy="755594"/>
          </a:xfrm>
          <a:prstGeom prst="straightConnector1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B97C39C9-0698-8285-C8DE-9DD98E29BDB1}"/>
              </a:ext>
            </a:extLst>
          </p:cNvPr>
          <p:cNvSpPr/>
          <p:nvPr/>
        </p:nvSpPr>
        <p:spPr>
          <a:xfrm>
            <a:off x="9489781" y="4209188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39792E57-5D78-0B4D-3366-176B69CF8ADF}"/>
              </a:ext>
            </a:extLst>
          </p:cNvPr>
          <p:cNvSpPr/>
          <p:nvPr/>
        </p:nvSpPr>
        <p:spPr>
          <a:xfrm>
            <a:off x="10379847" y="2633960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C9D03887-1675-EF55-4726-AE4ED35990D0}"/>
              </a:ext>
            </a:extLst>
          </p:cNvPr>
          <p:cNvSpPr/>
          <p:nvPr/>
        </p:nvSpPr>
        <p:spPr>
          <a:xfrm>
            <a:off x="10539931" y="3728935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8E2AE9-3DE3-A703-3667-9F2195930D0D}"/>
                  </a:ext>
                </a:extLst>
              </p:cNvPr>
              <p:cNvSpPr txBox="1"/>
              <p:nvPr/>
            </p:nvSpPr>
            <p:spPr>
              <a:xfrm>
                <a:off x="7919150" y="2469708"/>
                <a:ext cx="2282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8E2AE9-3DE3-A703-3667-9F2195930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150" y="2469708"/>
                <a:ext cx="228203" cy="276999"/>
              </a:xfrm>
              <a:prstGeom prst="rect">
                <a:avLst/>
              </a:prstGeom>
              <a:blipFill>
                <a:blip r:embed="rId3"/>
                <a:stretch>
                  <a:fillRect l="-15789" r="-7895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F87392D-114D-B7C9-5F3A-5BB562E31DB3}"/>
              </a:ext>
            </a:extLst>
          </p:cNvPr>
          <p:cNvGrpSpPr/>
          <p:nvPr/>
        </p:nvGrpSpPr>
        <p:grpSpPr>
          <a:xfrm>
            <a:off x="7718085" y="2683754"/>
            <a:ext cx="2403684" cy="2242007"/>
            <a:chOff x="7718085" y="2683754"/>
            <a:chExt cx="2403684" cy="2242007"/>
          </a:xfrm>
        </p:grpSpPr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C74AD0F-3731-8A14-B3CD-AC5BCA9808C2}"/>
                </a:ext>
              </a:extLst>
            </p:cNvPr>
            <p:cNvSpPr/>
            <p:nvPr/>
          </p:nvSpPr>
          <p:spPr>
            <a:xfrm>
              <a:off x="7718085" y="2795190"/>
              <a:ext cx="2403684" cy="2130571"/>
            </a:xfrm>
            <a:custGeom>
              <a:avLst/>
              <a:gdLst>
                <a:gd name="csX0" fmla="*/ 1395435 w 2403684"/>
                <a:gd name="csY0" fmla="*/ 92106 h 2244188"/>
                <a:gd name="csX1" fmla="*/ 3515 w 2403684"/>
                <a:gd name="csY1" fmla="*/ 732186 h 2244188"/>
                <a:gd name="csX2" fmla="*/ 1039835 w 2403684"/>
                <a:gd name="csY2" fmla="*/ 1931066 h 2244188"/>
                <a:gd name="csX3" fmla="*/ 2350475 w 2403684"/>
                <a:gd name="csY3" fmla="*/ 2113946 h 2244188"/>
                <a:gd name="csX4" fmla="*/ 2076155 w 2403684"/>
                <a:gd name="csY4" fmla="*/ 224186 h 2244188"/>
                <a:gd name="csX5" fmla="*/ 1395435 w 2403684"/>
                <a:gd name="csY5" fmla="*/ 92106 h 2244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403684" h="2244188">
                  <a:moveTo>
                    <a:pt x="1395435" y="92106"/>
                  </a:moveTo>
                  <a:cubicBezTo>
                    <a:pt x="1049995" y="176773"/>
                    <a:pt x="62782" y="425693"/>
                    <a:pt x="3515" y="732186"/>
                  </a:cubicBezTo>
                  <a:cubicBezTo>
                    <a:pt x="-55752" y="1038679"/>
                    <a:pt x="648675" y="1700773"/>
                    <a:pt x="1039835" y="1931066"/>
                  </a:cubicBezTo>
                  <a:cubicBezTo>
                    <a:pt x="1430995" y="2161359"/>
                    <a:pt x="2177755" y="2398426"/>
                    <a:pt x="2350475" y="2113946"/>
                  </a:cubicBezTo>
                  <a:cubicBezTo>
                    <a:pt x="2523195" y="1829466"/>
                    <a:pt x="2233635" y="561159"/>
                    <a:pt x="2076155" y="224186"/>
                  </a:cubicBezTo>
                  <a:cubicBezTo>
                    <a:pt x="1918675" y="-112787"/>
                    <a:pt x="1740875" y="7439"/>
                    <a:pt x="1395435" y="92106"/>
                  </a:cubicBezTo>
                  <a:close/>
                </a:path>
              </a:pathLst>
            </a:custGeom>
            <a:solidFill>
              <a:srgbClr val="156082">
                <a:alpha val="2509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810E554-1BD2-0BEC-72BE-7CB8C55CB19C}"/>
                    </a:ext>
                  </a:extLst>
                </p:cNvPr>
                <p:cNvSpPr txBox="1"/>
                <p:nvPr/>
              </p:nvSpPr>
              <p:spPr>
                <a:xfrm>
                  <a:off x="8453501" y="2683754"/>
                  <a:ext cx="2696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810E554-1BD2-0BEC-72BE-7CB8C55CB1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3501" y="2683754"/>
                  <a:ext cx="26968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8CCC73C-1967-8DA5-C629-2A0D25E57A8F}"/>
              </a:ext>
            </a:extLst>
          </p:cNvPr>
          <p:cNvGrpSpPr/>
          <p:nvPr/>
        </p:nvGrpSpPr>
        <p:grpSpPr>
          <a:xfrm>
            <a:off x="8726085" y="3172821"/>
            <a:ext cx="2600017" cy="2588759"/>
            <a:chOff x="8726085" y="3172821"/>
            <a:chExt cx="2600017" cy="2588759"/>
          </a:xfrm>
        </p:grpSpPr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192D5E56-BD60-D4FF-9BB4-2B7A7A9FD7B3}"/>
                </a:ext>
              </a:extLst>
            </p:cNvPr>
            <p:cNvSpPr/>
            <p:nvPr/>
          </p:nvSpPr>
          <p:spPr>
            <a:xfrm>
              <a:off x="8726085" y="3483377"/>
              <a:ext cx="2600017" cy="2278203"/>
            </a:xfrm>
            <a:custGeom>
              <a:avLst/>
              <a:gdLst>
                <a:gd name="csX0" fmla="*/ 2105201 w 2600017"/>
                <a:gd name="csY0" fmla="*/ 52 h 2278203"/>
                <a:gd name="csX1" fmla="*/ 559429 w 2600017"/>
                <a:gd name="csY1" fmla="*/ 544337 h 2278203"/>
                <a:gd name="csX2" fmla="*/ 4258 w 2600017"/>
                <a:gd name="csY2" fmla="*/ 2177194 h 2278203"/>
                <a:gd name="csX3" fmla="*/ 798915 w 2600017"/>
                <a:gd name="csY3" fmla="*/ 1981252 h 2278203"/>
                <a:gd name="csX4" fmla="*/ 1310544 w 2600017"/>
                <a:gd name="csY4" fmla="*/ 979766 h 2278203"/>
                <a:gd name="csX5" fmla="*/ 2562401 w 2600017"/>
                <a:gd name="csY5" fmla="*/ 566109 h 2278203"/>
                <a:gd name="csX6" fmla="*/ 2105201 w 2600017"/>
                <a:gd name="csY6" fmla="*/ 52 h 2278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00017" h="2278203">
                  <a:moveTo>
                    <a:pt x="2105201" y="52"/>
                  </a:moveTo>
                  <a:cubicBezTo>
                    <a:pt x="1771372" y="-3577"/>
                    <a:pt x="909586" y="181480"/>
                    <a:pt x="559429" y="544337"/>
                  </a:cubicBezTo>
                  <a:cubicBezTo>
                    <a:pt x="209272" y="907194"/>
                    <a:pt x="-35656" y="1937708"/>
                    <a:pt x="4258" y="2177194"/>
                  </a:cubicBezTo>
                  <a:cubicBezTo>
                    <a:pt x="44172" y="2416680"/>
                    <a:pt x="581201" y="2180823"/>
                    <a:pt x="798915" y="1981252"/>
                  </a:cubicBezTo>
                  <a:cubicBezTo>
                    <a:pt x="1016629" y="1781681"/>
                    <a:pt x="1016630" y="1215623"/>
                    <a:pt x="1310544" y="979766"/>
                  </a:cubicBezTo>
                  <a:cubicBezTo>
                    <a:pt x="1604458" y="743909"/>
                    <a:pt x="2424515" y="729395"/>
                    <a:pt x="2562401" y="566109"/>
                  </a:cubicBezTo>
                  <a:cubicBezTo>
                    <a:pt x="2700287" y="402823"/>
                    <a:pt x="2439030" y="3681"/>
                    <a:pt x="2105201" y="52"/>
                  </a:cubicBezTo>
                  <a:close/>
                </a:path>
              </a:pathLst>
            </a:custGeom>
            <a:solidFill>
              <a:srgbClr val="E97132">
                <a:alpha val="2509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D400B70-0A20-9EC8-AB3C-EC91F205B344}"/>
                    </a:ext>
                  </a:extLst>
                </p:cNvPr>
                <p:cNvSpPr txBox="1"/>
                <p:nvPr/>
              </p:nvSpPr>
              <p:spPr>
                <a:xfrm>
                  <a:off x="10730980" y="3172821"/>
                  <a:ext cx="2750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D400B70-0A20-9EC8-AB3C-EC91F205B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0980" y="3172821"/>
                  <a:ext cx="27501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3333" r="-8889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97AF13C-D24F-B2AB-7BE7-644D8457E650}"/>
              </a:ext>
            </a:extLst>
          </p:cNvPr>
          <p:cNvGrpSpPr/>
          <p:nvPr/>
        </p:nvGrpSpPr>
        <p:grpSpPr>
          <a:xfrm>
            <a:off x="390976" y="1346866"/>
            <a:ext cx="6303419" cy="3791872"/>
            <a:chOff x="384549" y="1317006"/>
            <a:chExt cx="6303419" cy="379187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B2E0C95-47D3-3F5E-D1E3-4F1F9959D37D}"/>
                </a:ext>
              </a:extLst>
            </p:cNvPr>
            <p:cNvSpPr txBox="1"/>
            <p:nvPr/>
          </p:nvSpPr>
          <p:spPr>
            <a:xfrm>
              <a:off x="384549" y="1317006"/>
              <a:ext cx="6303419" cy="379187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/>
                <a:t>Sampling procedure</a:t>
              </a:r>
              <a:endParaRPr lang="en-US"/>
            </a:p>
            <a:p>
              <a:pPr>
                <a:lnSpc>
                  <a:spcPct val="150000"/>
                </a:lnSpc>
              </a:pPr>
              <a:r>
                <a:rPr lang="en-US"/>
                <a:t>Each test item,     , samples which bonds are “active” (1 or 0)</a:t>
              </a:r>
            </a:p>
            <a:p>
              <a:pPr>
                <a:lnSpc>
                  <a:spcPct val="150000"/>
                </a:lnSpc>
              </a:pPr>
              <a:r>
                <a:rPr lang="en-US"/>
                <a:t>Variation in sampling approach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/>
                <a:t>Fixed proportion of active bonds (e.g., 3 of 10 bonds) (Thomson, 1916)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/>
                <a:t>Fixed probability of bond being active (e.g., p = 0.3 for each bond) (Bartholomew , 2007)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/>
                <a:t>Sampling of a subset (e.g.,  sample from bonds 3-10 for test item 1) (Maxwell, 1972)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92D3960-E80B-E96C-E403-ABADD62EC3AE}"/>
                    </a:ext>
                  </a:extLst>
                </p:cNvPr>
                <p:cNvSpPr txBox="1"/>
                <p:nvPr/>
              </p:nvSpPr>
              <p:spPr>
                <a:xfrm>
                  <a:off x="1981133" y="1857125"/>
                  <a:ext cx="24231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i="1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92D3960-E80B-E96C-E403-ABADD62EC3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133" y="1857125"/>
                  <a:ext cx="24231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000" r="-7500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37D174E-0250-DCE3-C732-7E1773EE8551}"/>
              </a:ext>
            </a:extLst>
          </p:cNvPr>
          <p:cNvSpPr txBox="1"/>
          <p:nvPr/>
        </p:nvSpPr>
        <p:spPr>
          <a:xfrm>
            <a:off x="510523" y="5172655"/>
            <a:ext cx="63034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5"/>
                </a:solidFill>
                <a:latin typeface="Menlo-Regular" panose="020B0609030804020204" pitchFamily="49" charset="0"/>
              </a:rPr>
              <a:t># Create indicator matrix</a:t>
            </a:r>
          </a:p>
          <a:p>
            <a:r>
              <a:rPr lang="en-US" sz="1600">
                <a:solidFill>
                  <a:schemeClr val="accent5"/>
                </a:solidFill>
                <a:latin typeface="Menlo-Regular" panose="020B0609030804020204" pitchFamily="49" charset="0"/>
              </a:rPr>
              <a:t>prob &lt;- function(x) {</a:t>
            </a:r>
          </a:p>
          <a:p>
            <a:r>
              <a:rPr lang="en-US" sz="1600">
                <a:solidFill>
                  <a:schemeClr val="accent5"/>
                </a:solidFill>
                <a:latin typeface="Menlo-Regular" panose="020B0609030804020204" pitchFamily="49" charset="0"/>
              </a:rPr>
              <a:t> 		</a:t>
            </a:r>
            <a:r>
              <a:rPr lang="en-US" sz="1600" err="1">
                <a:solidFill>
                  <a:schemeClr val="accent5"/>
                </a:solidFill>
                <a:latin typeface="Menlo-Regular" panose="020B0609030804020204" pitchFamily="49" charset="0"/>
              </a:rPr>
              <a:t>rbinom</a:t>
            </a:r>
            <a:r>
              <a:rPr lang="en-US" sz="1600">
                <a:solidFill>
                  <a:schemeClr val="accent5"/>
                </a:solidFill>
                <a:latin typeface="Menlo-Regular" panose="020B0609030804020204" pitchFamily="49" charset="0"/>
              </a:rPr>
              <a:t>(n = 1, size = 1, prob = P)}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	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A &lt;- matrix(NA, </a:t>
            </a:r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nrow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 = </a:t>
            </a:r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X_num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, </a:t>
            </a:r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ncol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 = N) 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A &lt;- apply(A, c(1,2), prob)</a:t>
            </a:r>
          </a:p>
          <a:p>
            <a:endParaRPr lang="en-US" sz="1500">
              <a:solidFill>
                <a:srgbClr val="6800AC"/>
              </a:solidFill>
              <a:latin typeface="Menlo-Regular" panose="020B0609030804020204" pitchFamily="49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EACABD-2571-74E8-4918-654C93B3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04931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D5DBF-65BB-8F00-3812-28CABD017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8CAACB-D921-D27D-2A2A-E83A32D7F4DD}"/>
              </a:ext>
            </a:extLst>
          </p:cNvPr>
          <p:cNvSpPr txBox="1"/>
          <p:nvPr/>
        </p:nvSpPr>
        <p:spPr>
          <a:xfrm>
            <a:off x="345455" y="384744"/>
            <a:ext cx="806866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Thomson's bonds model (sampling model)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B7D075-25F4-1BA1-7098-1095FC19A5C0}"/>
              </a:ext>
            </a:extLst>
          </p:cNvPr>
          <p:cNvSpPr/>
          <p:nvPr/>
        </p:nvSpPr>
        <p:spPr>
          <a:xfrm>
            <a:off x="7273635" y="1587501"/>
            <a:ext cx="4216400" cy="428567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F7C7E79-26E1-BA80-B942-7A9F6E1F7CBD}"/>
              </a:ext>
            </a:extLst>
          </p:cNvPr>
          <p:cNvSpPr/>
          <p:nvPr/>
        </p:nvSpPr>
        <p:spPr>
          <a:xfrm>
            <a:off x="7870305" y="2469708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CA8BE3A3-3891-F567-4360-BA48A5045842}"/>
              </a:ext>
            </a:extLst>
          </p:cNvPr>
          <p:cNvSpPr/>
          <p:nvPr/>
        </p:nvSpPr>
        <p:spPr>
          <a:xfrm>
            <a:off x="9164948" y="3101541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1213FC5-E0C5-40BE-E0C2-74C686D759DC}"/>
              </a:ext>
            </a:extLst>
          </p:cNvPr>
          <p:cNvSpPr/>
          <p:nvPr/>
        </p:nvSpPr>
        <p:spPr>
          <a:xfrm>
            <a:off x="9536343" y="2020695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1027A1D6-4B7A-5FD6-D0CC-D566E91BC803}"/>
              </a:ext>
            </a:extLst>
          </p:cNvPr>
          <p:cNvSpPr/>
          <p:nvPr/>
        </p:nvSpPr>
        <p:spPr>
          <a:xfrm>
            <a:off x="8907075" y="5225580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60E885F3-F476-73F8-57DA-F8BC9B85FDCD}"/>
              </a:ext>
            </a:extLst>
          </p:cNvPr>
          <p:cNvSpPr/>
          <p:nvPr/>
        </p:nvSpPr>
        <p:spPr>
          <a:xfrm>
            <a:off x="8086547" y="3567756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DCA4FF0E-073A-1B72-5E25-BAFFCD323DC0}"/>
              </a:ext>
            </a:extLst>
          </p:cNvPr>
          <p:cNvSpPr/>
          <p:nvPr/>
        </p:nvSpPr>
        <p:spPr>
          <a:xfrm>
            <a:off x="7873386" y="4801678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54F28169-963F-72F3-17B1-7B31E926ED5E}"/>
              </a:ext>
            </a:extLst>
          </p:cNvPr>
          <p:cNvSpPr/>
          <p:nvPr/>
        </p:nvSpPr>
        <p:spPr>
          <a:xfrm>
            <a:off x="10373445" y="4900750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3C242F-6974-B7AD-7691-1618991F37EF}"/>
              </a:ext>
            </a:extLst>
          </p:cNvPr>
          <p:cNvSpPr txBox="1"/>
          <p:nvPr/>
        </p:nvSpPr>
        <p:spPr>
          <a:xfrm>
            <a:off x="8549409" y="6049818"/>
            <a:ext cx="15586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"Intelligence"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9A2C88C-B80B-976B-6C73-A3FB1E5DA74A}"/>
              </a:ext>
            </a:extLst>
          </p:cNvPr>
          <p:cNvCxnSpPr/>
          <p:nvPr/>
        </p:nvCxnSpPr>
        <p:spPr>
          <a:xfrm flipH="1">
            <a:off x="8375595" y="1139798"/>
            <a:ext cx="601916" cy="1191024"/>
          </a:xfrm>
          <a:prstGeom prst="straightConnector1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55B26EA-1B59-537E-206C-F3EC0B13F72C}"/>
              </a:ext>
            </a:extLst>
          </p:cNvPr>
          <p:cNvSpPr txBox="1"/>
          <p:nvPr/>
        </p:nvSpPr>
        <p:spPr>
          <a:xfrm>
            <a:off x="8769759" y="756751"/>
            <a:ext cx="9310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FF0000"/>
                </a:solidFill>
              </a:rPr>
              <a:t>Bonds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4F464CD-12F2-5AB7-41A4-AC4B44DEF8E0}"/>
              </a:ext>
            </a:extLst>
          </p:cNvPr>
          <p:cNvCxnSpPr>
            <a:cxnSpLocks/>
          </p:cNvCxnSpPr>
          <p:nvPr/>
        </p:nvCxnSpPr>
        <p:spPr>
          <a:xfrm>
            <a:off x="9272065" y="1146202"/>
            <a:ext cx="230520" cy="755594"/>
          </a:xfrm>
          <a:prstGeom prst="straightConnector1">
            <a:avLst/>
          </a:prstGeom>
          <a:ln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51AF2A33-8608-E23F-1D92-54C9C97C08E4}"/>
              </a:ext>
            </a:extLst>
          </p:cNvPr>
          <p:cNvSpPr/>
          <p:nvPr/>
        </p:nvSpPr>
        <p:spPr>
          <a:xfrm>
            <a:off x="9489781" y="4209188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781804E3-DEF9-7C1F-8AF8-1B0417CE6978}"/>
              </a:ext>
            </a:extLst>
          </p:cNvPr>
          <p:cNvSpPr/>
          <p:nvPr/>
        </p:nvSpPr>
        <p:spPr>
          <a:xfrm>
            <a:off x="10379847" y="2633960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4D258D85-A2B5-B42F-9F2B-1F08A57C46A9}"/>
              </a:ext>
            </a:extLst>
          </p:cNvPr>
          <p:cNvSpPr/>
          <p:nvPr/>
        </p:nvSpPr>
        <p:spPr>
          <a:xfrm>
            <a:off x="10539931" y="3728935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D7ECB2-8512-F3A3-735E-F75A97123DEB}"/>
                  </a:ext>
                </a:extLst>
              </p:cNvPr>
              <p:cNvSpPr txBox="1"/>
              <p:nvPr/>
            </p:nvSpPr>
            <p:spPr>
              <a:xfrm>
                <a:off x="7919150" y="2469708"/>
                <a:ext cx="2282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D7ECB2-8512-F3A3-735E-F75A97123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9150" y="2469708"/>
                <a:ext cx="228203" cy="276999"/>
              </a:xfrm>
              <a:prstGeom prst="rect">
                <a:avLst/>
              </a:prstGeom>
              <a:blipFill>
                <a:blip r:embed="rId3"/>
                <a:stretch>
                  <a:fillRect l="-15789" r="-7895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C6932334-B6D0-727E-FFAE-8843A9EED04C}"/>
              </a:ext>
            </a:extLst>
          </p:cNvPr>
          <p:cNvGrpSpPr/>
          <p:nvPr/>
        </p:nvGrpSpPr>
        <p:grpSpPr>
          <a:xfrm>
            <a:off x="7718085" y="2683754"/>
            <a:ext cx="2403684" cy="2242007"/>
            <a:chOff x="7718085" y="2683754"/>
            <a:chExt cx="2403684" cy="2242007"/>
          </a:xfrm>
        </p:grpSpPr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FC5B7BD-9D4D-15DD-B2FC-746756345840}"/>
                </a:ext>
              </a:extLst>
            </p:cNvPr>
            <p:cNvSpPr/>
            <p:nvPr/>
          </p:nvSpPr>
          <p:spPr>
            <a:xfrm>
              <a:off x="7718085" y="2795190"/>
              <a:ext cx="2403684" cy="2130571"/>
            </a:xfrm>
            <a:custGeom>
              <a:avLst/>
              <a:gdLst>
                <a:gd name="csX0" fmla="*/ 1395435 w 2403684"/>
                <a:gd name="csY0" fmla="*/ 92106 h 2244188"/>
                <a:gd name="csX1" fmla="*/ 3515 w 2403684"/>
                <a:gd name="csY1" fmla="*/ 732186 h 2244188"/>
                <a:gd name="csX2" fmla="*/ 1039835 w 2403684"/>
                <a:gd name="csY2" fmla="*/ 1931066 h 2244188"/>
                <a:gd name="csX3" fmla="*/ 2350475 w 2403684"/>
                <a:gd name="csY3" fmla="*/ 2113946 h 2244188"/>
                <a:gd name="csX4" fmla="*/ 2076155 w 2403684"/>
                <a:gd name="csY4" fmla="*/ 224186 h 2244188"/>
                <a:gd name="csX5" fmla="*/ 1395435 w 2403684"/>
                <a:gd name="csY5" fmla="*/ 92106 h 2244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403684" h="2244188">
                  <a:moveTo>
                    <a:pt x="1395435" y="92106"/>
                  </a:moveTo>
                  <a:cubicBezTo>
                    <a:pt x="1049995" y="176773"/>
                    <a:pt x="62782" y="425693"/>
                    <a:pt x="3515" y="732186"/>
                  </a:cubicBezTo>
                  <a:cubicBezTo>
                    <a:pt x="-55752" y="1038679"/>
                    <a:pt x="648675" y="1700773"/>
                    <a:pt x="1039835" y="1931066"/>
                  </a:cubicBezTo>
                  <a:cubicBezTo>
                    <a:pt x="1430995" y="2161359"/>
                    <a:pt x="2177755" y="2398426"/>
                    <a:pt x="2350475" y="2113946"/>
                  </a:cubicBezTo>
                  <a:cubicBezTo>
                    <a:pt x="2523195" y="1829466"/>
                    <a:pt x="2233635" y="561159"/>
                    <a:pt x="2076155" y="224186"/>
                  </a:cubicBezTo>
                  <a:cubicBezTo>
                    <a:pt x="1918675" y="-112787"/>
                    <a:pt x="1740875" y="7439"/>
                    <a:pt x="1395435" y="92106"/>
                  </a:cubicBezTo>
                  <a:close/>
                </a:path>
              </a:pathLst>
            </a:custGeom>
            <a:solidFill>
              <a:srgbClr val="156082">
                <a:alpha val="2509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F67F0DB-7F7F-4E58-09A1-23DF0EF6A213}"/>
                    </a:ext>
                  </a:extLst>
                </p:cNvPr>
                <p:cNvSpPr txBox="1"/>
                <p:nvPr/>
              </p:nvSpPr>
              <p:spPr>
                <a:xfrm>
                  <a:off x="8453501" y="2683754"/>
                  <a:ext cx="2696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F67F0DB-7F7F-4E58-09A1-23DF0EF6A2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3501" y="2683754"/>
                  <a:ext cx="26968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3636" r="-909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0709222-2E03-A70A-1EEE-45F1FF6617D3}"/>
              </a:ext>
            </a:extLst>
          </p:cNvPr>
          <p:cNvGrpSpPr/>
          <p:nvPr/>
        </p:nvGrpSpPr>
        <p:grpSpPr>
          <a:xfrm>
            <a:off x="8726085" y="3172821"/>
            <a:ext cx="2600017" cy="2588759"/>
            <a:chOff x="8726085" y="3172821"/>
            <a:chExt cx="2600017" cy="2588759"/>
          </a:xfrm>
        </p:grpSpPr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D53D8A91-B44D-8AAD-D87A-EF06D226F0DC}"/>
                </a:ext>
              </a:extLst>
            </p:cNvPr>
            <p:cNvSpPr/>
            <p:nvPr/>
          </p:nvSpPr>
          <p:spPr>
            <a:xfrm>
              <a:off x="8726085" y="3483377"/>
              <a:ext cx="2600017" cy="2278203"/>
            </a:xfrm>
            <a:custGeom>
              <a:avLst/>
              <a:gdLst>
                <a:gd name="csX0" fmla="*/ 2105201 w 2600017"/>
                <a:gd name="csY0" fmla="*/ 52 h 2278203"/>
                <a:gd name="csX1" fmla="*/ 559429 w 2600017"/>
                <a:gd name="csY1" fmla="*/ 544337 h 2278203"/>
                <a:gd name="csX2" fmla="*/ 4258 w 2600017"/>
                <a:gd name="csY2" fmla="*/ 2177194 h 2278203"/>
                <a:gd name="csX3" fmla="*/ 798915 w 2600017"/>
                <a:gd name="csY3" fmla="*/ 1981252 h 2278203"/>
                <a:gd name="csX4" fmla="*/ 1310544 w 2600017"/>
                <a:gd name="csY4" fmla="*/ 979766 h 2278203"/>
                <a:gd name="csX5" fmla="*/ 2562401 w 2600017"/>
                <a:gd name="csY5" fmla="*/ 566109 h 2278203"/>
                <a:gd name="csX6" fmla="*/ 2105201 w 2600017"/>
                <a:gd name="csY6" fmla="*/ 52 h 22782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00017" h="2278203">
                  <a:moveTo>
                    <a:pt x="2105201" y="52"/>
                  </a:moveTo>
                  <a:cubicBezTo>
                    <a:pt x="1771372" y="-3577"/>
                    <a:pt x="909586" y="181480"/>
                    <a:pt x="559429" y="544337"/>
                  </a:cubicBezTo>
                  <a:cubicBezTo>
                    <a:pt x="209272" y="907194"/>
                    <a:pt x="-35656" y="1937708"/>
                    <a:pt x="4258" y="2177194"/>
                  </a:cubicBezTo>
                  <a:cubicBezTo>
                    <a:pt x="44172" y="2416680"/>
                    <a:pt x="581201" y="2180823"/>
                    <a:pt x="798915" y="1981252"/>
                  </a:cubicBezTo>
                  <a:cubicBezTo>
                    <a:pt x="1016629" y="1781681"/>
                    <a:pt x="1016630" y="1215623"/>
                    <a:pt x="1310544" y="979766"/>
                  </a:cubicBezTo>
                  <a:cubicBezTo>
                    <a:pt x="1604458" y="743909"/>
                    <a:pt x="2424515" y="729395"/>
                    <a:pt x="2562401" y="566109"/>
                  </a:cubicBezTo>
                  <a:cubicBezTo>
                    <a:pt x="2700287" y="402823"/>
                    <a:pt x="2439030" y="3681"/>
                    <a:pt x="2105201" y="52"/>
                  </a:cubicBezTo>
                  <a:close/>
                </a:path>
              </a:pathLst>
            </a:custGeom>
            <a:solidFill>
              <a:srgbClr val="E97132">
                <a:alpha val="2509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A59802F-C756-20F0-A310-1DFAA69D5C81}"/>
                    </a:ext>
                  </a:extLst>
                </p:cNvPr>
                <p:cNvSpPr txBox="1"/>
                <p:nvPr/>
              </p:nvSpPr>
              <p:spPr>
                <a:xfrm>
                  <a:off x="10730980" y="3172821"/>
                  <a:ext cx="27501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i="1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A59802F-C756-20F0-A310-1DFAA69D5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0980" y="3172821"/>
                  <a:ext cx="275011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3333" r="-8889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BC1822E6-9C7C-5C32-82A1-563F92B9811E}"/>
              </a:ext>
            </a:extLst>
          </p:cNvPr>
          <p:cNvSpPr txBox="1"/>
          <p:nvPr/>
        </p:nvSpPr>
        <p:spPr>
          <a:xfrm>
            <a:off x="394056" y="1339154"/>
            <a:ext cx="6303419" cy="17143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/>
              <a:t>Scores and correlations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Test item scores are the sum of effects of active bonds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Item correlations arise from the same bond being sampled across multiple test items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5388E-2801-B34D-5525-65930635DD58}"/>
              </a:ext>
            </a:extLst>
          </p:cNvPr>
          <p:cNvSpPr txBox="1"/>
          <p:nvPr/>
        </p:nvSpPr>
        <p:spPr>
          <a:xfrm>
            <a:off x="529514" y="4569603"/>
            <a:ext cx="60978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# Extract item scores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X &lt;- matrix(data = NA, </a:t>
            </a:r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nrow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 = X, </a:t>
            </a:r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ncol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 = 1)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scores &lt;- A %*% E</a:t>
            </a:r>
            <a:endParaRPr lang="en-US" sz="150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D12DAE-0E3F-0FE8-A69E-7360DD9E2B44}"/>
                  </a:ext>
                </a:extLst>
              </p:cNvPr>
              <p:cNvSpPr txBox="1"/>
              <p:nvPr/>
            </p:nvSpPr>
            <p:spPr>
              <a:xfrm>
                <a:off x="549036" y="3264937"/>
                <a:ext cx="32454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D12DAE-0E3F-0FE8-A69E-7360DD9E2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36" y="3264937"/>
                <a:ext cx="3245440" cy="276999"/>
              </a:xfrm>
              <a:prstGeom prst="rect">
                <a:avLst/>
              </a:prstGeom>
              <a:blipFill>
                <a:blip r:embed="rId6"/>
                <a:stretch>
                  <a:fillRect l="-1128" r="-56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AAA8E24-A115-5963-4A87-2FBC8070429E}"/>
                  </a:ext>
                </a:extLst>
              </p:cNvPr>
              <p:cNvSpPr txBox="1"/>
              <p:nvPr/>
            </p:nvSpPr>
            <p:spPr>
              <a:xfrm>
                <a:off x="394056" y="3839856"/>
                <a:ext cx="64193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indicator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random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variable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th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bond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th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item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AAA8E24-A115-5963-4A87-2FBC80704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56" y="3839856"/>
                <a:ext cx="6419302" cy="369332"/>
              </a:xfrm>
              <a:prstGeom prst="rect">
                <a:avLst/>
              </a:prstGeom>
              <a:blipFill>
                <a:blip r:embed="rId7"/>
                <a:stretch>
                  <a:fillRect r="-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429AE27B-FBA1-B3FA-9BDC-4CCFD538C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32025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61630-2102-4E29-D411-F4953042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15B033-EEFE-BD63-169D-CCDB1C52F7C6}"/>
              </a:ext>
            </a:extLst>
          </p:cNvPr>
          <p:cNvSpPr txBox="1"/>
          <p:nvPr/>
        </p:nvSpPr>
        <p:spPr>
          <a:xfrm>
            <a:off x="345455" y="384744"/>
            <a:ext cx="806866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R Simulation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3CBEA7-0737-2EDF-7194-2A3942015F9D}"/>
              </a:ext>
            </a:extLst>
          </p:cNvPr>
          <p:cNvSpPr txBox="1"/>
          <p:nvPr/>
        </p:nvSpPr>
        <p:spPr>
          <a:xfrm>
            <a:off x="345453" y="1336119"/>
            <a:ext cx="5504603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N &lt;- 1000 # N of bonds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X &lt;- 12 # N of test items 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P &lt;- .3 # P of bond being selected for all test items 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size &lt;- 500 # N individuals tested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# SD = 1 for all bond effects</a:t>
            </a:r>
          </a:p>
          <a:p>
            <a:endParaRPr lang="en-US" sz="1500">
              <a:solidFill>
                <a:schemeClr val="accent5"/>
              </a:solidFill>
              <a:latin typeface="Menlo-Regular" panose="020B0609030804020204" pitchFamily="49" charset="0"/>
            </a:endParaRPr>
          </a:p>
          <a:p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set.seed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(1234)</a:t>
            </a:r>
          </a:p>
          <a:p>
            <a:endParaRPr lang="en-US" sz="1500">
              <a:solidFill>
                <a:schemeClr val="accent5"/>
              </a:solidFill>
              <a:latin typeface="Menlo-Regular" panose="020B0609030804020204" pitchFamily="49" charset="0"/>
            </a:endParaRP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data &lt;- matrix(data = NA, </a:t>
            </a:r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nrow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 = size, </a:t>
            </a:r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ncol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 = X)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for (</a:t>
            </a:r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i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 in 1:size){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   iter &lt;- </a:t>
            </a:r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simulate_bonds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(N, X, P) # Simulate bonds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   data[</a:t>
            </a:r>
            <a:r>
              <a:rPr lang="en-US" sz="1500" err="1">
                <a:solidFill>
                  <a:schemeClr val="accent5"/>
                </a:solidFill>
                <a:latin typeface="Menlo-Regular" panose="020B0609030804020204" pitchFamily="49" charset="0"/>
              </a:rPr>
              <a:t>i</a:t>
            </a:r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,] &lt;- iter[,N+1] # Extract item scores</a:t>
            </a:r>
          </a:p>
          <a:p>
            <a:r>
              <a:rPr lang="en-US" sz="1500">
                <a:solidFill>
                  <a:schemeClr val="accent5"/>
                </a:solidFill>
                <a:latin typeface="Menlo-Regular" panose="020B0609030804020204" pitchFamily="49" charset="0"/>
              </a:rPr>
              <a:t> 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EBC5114E-0047-29FB-B2D3-752CA8979A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4029344"/>
                  </p:ext>
                </p:extLst>
              </p:nvPr>
            </p:nvGraphicFramePr>
            <p:xfrm>
              <a:off x="6341944" y="1604169"/>
              <a:ext cx="4733572" cy="458152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65410">
                      <a:extLst>
                        <a:ext uri="{9D8B030D-6E8A-4147-A177-3AD203B41FA5}">
                          <a16:colId xmlns:a16="http://schemas.microsoft.com/office/drawing/2014/main" val="2526786971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376071628"/>
                        </a:ext>
                      </a:extLst>
                    </a:gridCol>
                    <a:gridCol w="357031">
                      <a:extLst>
                        <a:ext uri="{9D8B030D-6E8A-4147-A177-3AD203B41FA5}">
                          <a16:colId xmlns:a16="http://schemas.microsoft.com/office/drawing/2014/main" val="650195641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2473099543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2379549802"/>
                        </a:ext>
                      </a:extLst>
                    </a:gridCol>
                    <a:gridCol w="357031">
                      <a:extLst>
                        <a:ext uri="{9D8B030D-6E8A-4147-A177-3AD203B41FA5}">
                          <a16:colId xmlns:a16="http://schemas.microsoft.com/office/drawing/2014/main" val="1814369967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2141233692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1091836718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3472832093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598736670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2267182260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1475840825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3004716122"/>
                        </a:ext>
                      </a:extLst>
                    </a:gridCol>
                  </a:tblGrid>
                  <a:tr h="346248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Item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9396574"/>
                      </a:ext>
                    </a:extLst>
                  </a:tr>
                  <a:tr h="256951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6428993"/>
                      </a:ext>
                    </a:extLst>
                  </a:tr>
                  <a:tr h="256951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93990889"/>
                      </a:ext>
                    </a:extLst>
                  </a:tr>
                  <a:tr h="256951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.32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737087"/>
                      </a:ext>
                    </a:extLst>
                  </a:tr>
                  <a:tr h="256951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.25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8177878"/>
                      </a:ext>
                    </a:extLst>
                  </a:tr>
                  <a:tr h="256951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.33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55067327"/>
                      </a:ext>
                    </a:extLst>
                  </a:tr>
                  <a:tr h="256951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.31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.27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3116839"/>
                      </a:ext>
                    </a:extLst>
                  </a:tr>
                  <a:tr h="256951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.31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.31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89524253"/>
                      </a:ext>
                    </a:extLst>
                  </a:tr>
                  <a:tr h="256951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.32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.27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.33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0003730"/>
                      </a:ext>
                    </a:extLst>
                  </a:tr>
                  <a:tr h="256951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.27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1908564"/>
                      </a:ext>
                    </a:extLst>
                  </a:tr>
                  <a:tr h="256951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.35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.22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.33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.27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3172393"/>
                      </a:ext>
                    </a:extLst>
                  </a:tr>
                  <a:tr h="256951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.35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.32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110374"/>
                      </a:ext>
                    </a:extLst>
                  </a:tr>
                  <a:tr h="256951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500" b="0" i="1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.23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.22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.25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.33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.21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.22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.23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68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EBC5114E-0047-29FB-B2D3-752CA8979A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4029344"/>
                  </p:ext>
                </p:extLst>
              </p:nvPr>
            </p:nvGraphicFramePr>
            <p:xfrm>
              <a:off x="6341944" y="1604169"/>
              <a:ext cx="4733572" cy="4863973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65410">
                      <a:extLst>
                        <a:ext uri="{9D8B030D-6E8A-4147-A177-3AD203B41FA5}">
                          <a16:colId xmlns:a16="http://schemas.microsoft.com/office/drawing/2014/main" val="2526786971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376071628"/>
                        </a:ext>
                      </a:extLst>
                    </a:gridCol>
                    <a:gridCol w="357031">
                      <a:extLst>
                        <a:ext uri="{9D8B030D-6E8A-4147-A177-3AD203B41FA5}">
                          <a16:colId xmlns:a16="http://schemas.microsoft.com/office/drawing/2014/main" val="650195641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2473099543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2379549802"/>
                        </a:ext>
                      </a:extLst>
                    </a:gridCol>
                    <a:gridCol w="357031">
                      <a:extLst>
                        <a:ext uri="{9D8B030D-6E8A-4147-A177-3AD203B41FA5}">
                          <a16:colId xmlns:a16="http://schemas.microsoft.com/office/drawing/2014/main" val="1814369967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2141233692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1091836718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3472832093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598736670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2267182260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1475840825"/>
                        </a:ext>
                      </a:extLst>
                    </a:gridCol>
                    <a:gridCol w="365410">
                      <a:extLst>
                        <a:ext uri="{9D8B030D-6E8A-4147-A177-3AD203B41FA5}">
                          <a16:colId xmlns:a16="http://schemas.microsoft.com/office/drawing/2014/main" val="3004716122"/>
                        </a:ext>
                      </a:extLst>
                    </a:gridCol>
                  </a:tblGrid>
                  <a:tr h="634873"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Item</a:t>
                          </a: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962" r="-1098333" b="-6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085" t="-962" r="-1016949" b="-6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962" r="-900000" b="-6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000" t="-962" r="-800000" b="-6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7241" t="-962" r="-727586" b="-6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6667" t="-962" r="-603333" b="-6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6667" t="-962" r="-503333" b="-6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6667" t="-962" r="-403333" b="-6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6667" t="-962" r="-303333" b="-6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96667" t="-962" r="-203333" b="-6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96667" t="-962" r="-103333" b="-6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96667" t="-962" r="-3333" b="-68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396574"/>
                      </a:ext>
                    </a:extLst>
                  </a:tr>
                  <a:tr h="352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667" t="-181034" r="-1198333" b="-11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6428993"/>
                      </a:ext>
                    </a:extLst>
                  </a:tr>
                  <a:tr h="352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667" t="-281034" r="-1198333" b="-10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93990889"/>
                      </a:ext>
                    </a:extLst>
                  </a:tr>
                  <a:tr h="352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667" t="-381034" r="-1198333" b="-9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.32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0737087"/>
                      </a:ext>
                    </a:extLst>
                  </a:tr>
                  <a:tr h="352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667" t="-481034" r="-1198333" b="-8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.25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8177878"/>
                      </a:ext>
                    </a:extLst>
                  </a:tr>
                  <a:tr h="352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667" t="-581034" r="-1198333" b="-7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.33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55067327"/>
                      </a:ext>
                    </a:extLst>
                  </a:tr>
                  <a:tr h="352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667" t="-681034" r="-1198333" b="-6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.31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.27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3116839"/>
                      </a:ext>
                    </a:extLst>
                  </a:tr>
                  <a:tr h="352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667" t="-781034" r="-1198333" b="-52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.31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.31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89524253"/>
                      </a:ext>
                    </a:extLst>
                  </a:tr>
                  <a:tr h="352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667" t="-896491" r="-1198333" b="-4298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.32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.27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.33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0003730"/>
                      </a:ext>
                    </a:extLst>
                  </a:tr>
                  <a:tr h="352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667" t="-979310" r="-1198333" b="-32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.27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21908564"/>
                      </a:ext>
                    </a:extLst>
                  </a:tr>
                  <a:tr h="352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667" t="-1079310" r="-1198333" b="-22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.35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.22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.33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.27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3172393"/>
                      </a:ext>
                    </a:extLst>
                  </a:tr>
                  <a:tr h="352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667" t="-1179310" r="-1198333" b="-12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.30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.35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.29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.32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3110374"/>
                      </a:ext>
                    </a:extLst>
                  </a:tr>
                  <a:tr h="352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667" t="-1279310" r="-1198333" b="-2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.23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.22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.24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.25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.28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.33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.21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.26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.22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en-US" sz="15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ptos Narrow" panose="020B0004020202020204" pitchFamily="34" charset="0"/>
                            </a:rPr>
                            <a:t>.23</a:t>
                          </a:r>
                        </a:p>
                      </a:txBody>
                      <a:tcPr marL="9525" marR="9525" marT="9525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>
                            <a:lnSpc>
                              <a:spcPct val="150000"/>
                            </a:lnSpc>
                            <a:buNone/>
                          </a:pPr>
                          <a:endParaRPr lang="en-US" sz="1500" b="0" i="0" u="none" strike="noStrike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068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477E061-01A1-DDE3-9201-6FEE0CB403BA}"/>
              </a:ext>
            </a:extLst>
          </p:cNvPr>
          <p:cNvSpPr txBox="1"/>
          <p:nvPr/>
        </p:nvSpPr>
        <p:spPr>
          <a:xfrm>
            <a:off x="7673078" y="1109399"/>
            <a:ext cx="1875043" cy="405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/>
              <a:t>Correlation Matrix</a:t>
            </a:r>
          </a:p>
        </p:txBody>
      </p:sp>
      <p:pic>
        <p:nvPicPr>
          <p:cNvPr id="20" name="Picture 19" descr="A diagram of a cell&#10;&#10;AI-generated content may be incorrect.">
            <a:extLst>
              <a:ext uri="{FF2B5EF4-FFF2-40B4-BE49-F238E27FC236}">
                <a16:creationId xmlns:a16="http://schemas.microsoft.com/office/drawing/2014/main" id="{8BA48F5A-2B76-873D-410A-17F07B639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9472" y="138545"/>
            <a:ext cx="880128" cy="800197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FE46A1D-089F-B5F3-0DEA-70DF6565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12</a:t>
            </a:fld>
            <a:endParaRPr lang="en-NL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E88EB6-E95A-5EB8-9318-8C648740F5C8}"/>
              </a:ext>
            </a:extLst>
          </p:cNvPr>
          <p:cNvSpPr txBox="1"/>
          <p:nvPr/>
        </p:nvSpPr>
        <p:spPr>
          <a:xfrm>
            <a:off x="345454" y="5521881"/>
            <a:ext cx="2052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Positive manifold? </a:t>
            </a:r>
          </a:p>
        </p:txBody>
      </p:sp>
      <p:pic>
        <p:nvPicPr>
          <p:cNvPr id="53" name="Graphic 52" descr="Checkbox Checked with solid fill">
            <a:extLst>
              <a:ext uri="{FF2B5EF4-FFF2-40B4-BE49-F238E27FC236}">
                <a16:creationId xmlns:a16="http://schemas.microsoft.com/office/drawing/2014/main" id="{4034C10F-FD27-3674-B1E5-26F8C69269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98426" y="5385614"/>
            <a:ext cx="641866" cy="6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2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EC597-E0F1-52B7-9541-3AD874AC0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94693E-6F7F-EC54-E871-2FE19A66BBDA}"/>
              </a:ext>
            </a:extLst>
          </p:cNvPr>
          <p:cNvSpPr txBox="1"/>
          <p:nvPr/>
        </p:nvSpPr>
        <p:spPr>
          <a:xfrm>
            <a:off x="345455" y="384744"/>
            <a:ext cx="8068669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JASP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240B9-816C-9B14-7B70-18C0D357F8CE}"/>
              </a:ext>
            </a:extLst>
          </p:cNvPr>
          <p:cNvSpPr txBox="1"/>
          <p:nvPr/>
        </p:nvSpPr>
        <p:spPr>
          <a:xfrm>
            <a:off x="5478162" y="27184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772DEF-FEA8-DA49-1578-6FC53291E530}"/>
              </a:ext>
            </a:extLst>
          </p:cNvPr>
          <p:cNvSpPr txBox="1"/>
          <p:nvPr/>
        </p:nvSpPr>
        <p:spPr>
          <a:xfrm>
            <a:off x="5662893" y="1307737"/>
            <a:ext cx="6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/>
          </a:p>
          <a:p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ADE6532-6880-6F91-6AC3-82D2410D0D60}"/>
              </a:ext>
            </a:extLst>
          </p:cNvPr>
          <p:cNvGraphicFramePr>
            <a:graphicFrameLocks noGrp="1"/>
          </p:cNvGraphicFramePr>
          <p:nvPr/>
        </p:nvGraphicFramePr>
        <p:xfrm>
          <a:off x="5805714" y="5137338"/>
          <a:ext cx="6200960" cy="147637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550240">
                  <a:extLst>
                    <a:ext uri="{9D8B030D-6E8A-4147-A177-3AD203B41FA5}">
                      <a16:colId xmlns:a16="http://schemas.microsoft.com/office/drawing/2014/main" val="2387651248"/>
                    </a:ext>
                  </a:extLst>
                </a:gridCol>
                <a:gridCol w="1550240">
                  <a:extLst>
                    <a:ext uri="{9D8B030D-6E8A-4147-A177-3AD203B41FA5}">
                      <a16:colId xmlns:a16="http://schemas.microsoft.com/office/drawing/2014/main" val="3960206452"/>
                    </a:ext>
                  </a:extLst>
                </a:gridCol>
                <a:gridCol w="1550240">
                  <a:extLst>
                    <a:ext uri="{9D8B030D-6E8A-4147-A177-3AD203B41FA5}">
                      <a16:colId xmlns:a16="http://schemas.microsoft.com/office/drawing/2014/main" val="3715280539"/>
                    </a:ext>
                  </a:extLst>
                </a:gridCol>
                <a:gridCol w="1550240">
                  <a:extLst>
                    <a:ext uri="{9D8B030D-6E8A-4147-A177-3AD203B41FA5}">
                      <a16:colId xmlns:a16="http://schemas.microsoft.com/office/drawing/2014/main" val="3131469459"/>
                    </a:ext>
                  </a:extLst>
                </a:gridCol>
              </a:tblGrid>
              <a:tr h="266200">
                <a:tc gridSpan="4">
                  <a:txBody>
                    <a:bodyPr/>
                    <a:lstStyle/>
                    <a:p>
                      <a:pPr marL="0" marR="0" algn="l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 i="1">
                          <a:effectLst/>
                        </a:rPr>
                        <a:t>Chi-square test </a:t>
                      </a:r>
                      <a:endParaRPr lang="en-US" sz="1200" b="0" i="1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R="95250" marT="57150" marB="5715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29567"/>
                  </a:ext>
                </a:extLst>
              </a:tr>
              <a:tr h="205700">
                <a:tc>
                  <a:txBody>
                    <a:bodyPr/>
                    <a:lstStyle/>
                    <a:p>
                      <a:pPr marL="0" marR="0" algn="ct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Model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28575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Χ²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28575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df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28575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28575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199890"/>
                  </a:ext>
                </a:extLst>
              </a:tr>
              <a:tr h="284350">
                <a:tc>
                  <a:txBody>
                    <a:bodyPr/>
                    <a:lstStyle/>
                    <a:p>
                      <a:pPr marL="0" marR="0" algn="l" fontAlgn="b">
                        <a:spcAft>
                          <a:spcPts val="72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Baseline model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102870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b">
                        <a:spcAft>
                          <a:spcPts val="72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1240.449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102870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b">
                        <a:spcAft>
                          <a:spcPts val="72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66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102870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b">
                        <a:spcAft>
                          <a:spcPts val="72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102870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938061"/>
                  </a:ext>
                </a:extLst>
              </a:tr>
              <a:tr h="185534">
                <a:tc>
                  <a:txBody>
                    <a:bodyPr/>
                    <a:lstStyle/>
                    <a:p>
                      <a:pPr marL="0" marR="0" algn="l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Factor model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9525" marB="2857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47.841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9525" marB="2857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54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9525" marB="2857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.710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9525" marB="2857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426629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algn="l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 i="1">
                          <a:effectLst/>
                        </a:rPr>
                        <a:t>Note.   </a:t>
                      </a:r>
                      <a:r>
                        <a:rPr lang="en-US" sz="1200">
                          <a:effectLst/>
                        </a:rPr>
                        <a:t>The estimator is ML. The test statistic is standard. The standard error method is standard.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9525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043935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774A27F5-4702-EB6B-205E-80A5285FF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162" y="1584736"/>
            <a:ext cx="6671334" cy="333566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3562013-67BE-6D7B-CC29-868819D0EA75}"/>
              </a:ext>
            </a:extLst>
          </p:cNvPr>
          <p:cNvSpPr txBox="1"/>
          <p:nvPr/>
        </p:nvSpPr>
        <p:spPr>
          <a:xfrm>
            <a:off x="5805714" y="1093389"/>
            <a:ext cx="277123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/>
              <a:t>Confirmatory Factor Analysis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F4FE183-85DA-C15B-79C8-B148C05BC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36" y="1584736"/>
            <a:ext cx="3445987" cy="3445987"/>
          </a:xfrm>
          <a:prstGeom prst="rect">
            <a:avLst/>
          </a:prstGeom>
        </p:spPr>
      </p:pic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08298C8-9C09-BE53-AC25-F6A468B70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914617"/>
              </p:ext>
            </p:extLst>
          </p:nvPr>
        </p:nvGraphicFramePr>
        <p:xfrm>
          <a:off x="185326" y="5190231"/>
          <a:ext cx="5153929" cy="9591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7351">
                  <a:extLst>
                    <a:ext uri="{9D8B030D-6E8A-4147-A177-3AD203B41FA5}">
                      <a16:colId xmlns:a16="http://schemas.microsoft.com/office/drawing/2014/main" val="1948121662"/>
                    </a:ext>
                  </a:extLst>
                </a:gridCol>
                <a:gridCol w="2123090">
                  <a:extLst>
                    <a:ext uri="{9D8B030D-6E8A-4147-A177-3AD203B41FA5}">
                      <a16:colId xmlns:a16="http://schemas.microsoft.com/office/drawing/2014/main" val="328950105"/>
                    </a:ext>
                  </a:extLst>
                </a:gridCol>
                <a:gridCol w="1513488">
                  <a:extLst>
                    <a:ext uri="{9D8B030D-6E8A-4147-A177-3AD203B41FA5}">
                      <a16:colId xmlns:a16="http://schemas.microsoft.com/office/drawing/2014/main" val="1096601065"/>
                    </a:ext>
                  </a:extLst>
                </a:gridCol>
              </a:tblGrid>
              <a:tr h="231772">
                <a:tc gridSpan="3">
                  <a:txBody>
                    <a:bodyPr/>
                    <a:lstStyle/>
                    <a:p>
                      <a:pPr marL="0" marR="0" algn="l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Summary of Network 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R="95250" marT="57150" marB="5715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7951"/>
                  </a:ext>
                </a:extLst>
              </a:tr>
              <a:tr h="347658">
                <a:tc>
                  <a:txBody>
                    <a:bodyPr/>
                    <a:lstStyle/>
                    <a:p>
                      <a:pPr marL="0" marR="0" algn="ct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Number of nodes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28575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Number of non-zero edges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28575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Sparsity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28575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69907"/>
                  </a:ext>
                </a:extLst>
              </a:tr>
              <a:tr h="243361">
                <a:tc>
                  <a:txBody>
                    <a:bodyPr/>
                    <a:lstStyle/>
                    <a:p>
                      <a:pPr marL="0" marR="0" algn="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102870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 / 66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102870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0.1515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102870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91979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869FBFE8-A7DD-746D-03D5-61E7B21792D5}"/>
              </a:ext>
            </a:extLst>
          </p:cNvPr>
          <p:cNvSpPr txBox="1"/>
          <p:nvPr/>
        </p:nvSpPr>
        <p:spPr>
          <a:xfrm>
            <a:off x="345455" y="1102063"/>
            <a:ext cx="187504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/>
              <a:t>Network Analysis</a:t>
            </a:r>
          </a:p>
        </p:txBody>
      </p:sp>
      <p:pic>
        <p:nvPicPr>
          <p:cNvPr id="4" name="Picture 3" descr="A diagram of a cell&#10;&#10;AI-generated content may be incorrect.">
            <a:extLst>
              <a:ext uri="{FF2B5EF4-FFF2-40B4-BE49-F238E27FC236}">
                <a16:creationId xmlns:a16="http://schemas.microsoft.com/office/drawing/2014/main" id="{9386BE13-8581-5404-1A2C-86E8F120BE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9472" y="138545"/>
            <a:ext cx="880128" cy="80019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EF178-D6BF-BA3E-33D3-03021044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6179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EC564-018B-2CCF-045D-70BF74365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941617-A42F-B933-41C5-60F643B9CD15}"/>
              </a:ext>
            </a:extLst>
          </p:cNvPr>
          <p:cNvSpPr/>
          <p:nvPr/>
        </p:nvSpPr>
        <p:spPr>
          <a:xfrm>
            <a:off x="7295648" y="1997288"/>
            <a:ext cx="4216400" cy="428567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5A49E6AA-5148-743C-B959-B508453115B5}"/>
              </a:ext>
            </a:extLst>
          </p:cNvPr>
          <p:cNvSpPr/>
          <p:nvPr/>
        </p:nvSpPr>
        <p:spPr>
          <a:xfrm>
            <a:off x="7892318" y="2879495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4C08F0D1-7624-19F2-8840-476C72DD5F08}"/>
              </a:ext>
            </a:extLst>
          </p:cNvPr>
          <p:cNvSpPr/>
          <p:nvPr/>
        </p:nvSpPr>
        <p:spPr>
          <a:xfrm>
            <a:off x="9186961" y="3511328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AA00D523-1B37-EAE8-907B-EB5851BDEA71}"/>
              </a:ext>
            </a:extLst>
          </p:cNvPr>
          <p:cNvSpPr/>
          <p:nvPr/>
        </p:nvSpPr>
        <p:spPr>
          <a:xfrm>
            <a:off x="9558356" y="2430482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F83F3C5D-27FC-9705-260E-BFB1D85A87CE}"/>
              </a:ext>
            </a:extLst>
          </p:cNvPr>
          <p:cNvSpPr/>
          <p:nvPr/>
        </p:nvSpPr>
        <p:spPr>
          <a:xfrm>
            <a:off x="9823168" y="5533767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C45ED8C2-B69D-7987-16E7-24AA13D2EDE1}"/>
              </a:ext>
            </a:extLst>
          </p:cNvPr>
          <p:cNvSpPr/>
          <p:nvPr/>
        </p:nvSpPr>
        <p:spPr>
          <a:xfrm>
            <a:off x="8108560" y="3977543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7FFBBCD0-9AC3-CAAD-5650-8C2D8D7AF026}"/>
              </a:ext>
            </a:extLst>
          </p:cNvPr>
          <p:cNvSpPr/>
          <p:nvPr/>
        </p:nvSpPr>
        <p:spPr>
          <a:xfrm>
            <a:off x="9185719" y="5313065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AAB6AE27-2B3F-AF7B-E6EE-7DF062057FB4}"/>
              </a:ext>
            </a:extLst>
          </p:cNvPr>
          <p:cNvSpPr/>
          <p:nvPr/>
        </p:nvSpPr>
        <p:spPr>
          <a:xfrm>
            <a:off x="10761218" y="3786537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431EC441-7B3D-4774-5F4B-AD52DAE72412}"/>
              </a:ext>
            </a:extLst>
          </p:cNvPr>
          <p:cNvSpPr/>
          <p:nvPr/>
        </p:nvSpPr>
        <p:spPr>
          <a:xfrm>
            <a:off x="9511794" y="4618975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6567E2AE-798A-64AE-B8D7-A88445CE80E7}"/>
              </a:ext>
            </a:extLst>
          </p:cNvPr>
          <p:cNvSpPr/>
          <p:nvPr/>
        </p:nvSpPr>
        <p:spPr>
          <a:xfrm>
            <a:off x="10401860" y="3043747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789297EB-A114-1BF7-93CD-893391E0A8A5}"/>
              </a:ext>
            </a:extLst>
          </p:cNvPr>
          <p:cNvSpPr/>
          <p:nvPr/>
        </p:nvSpPr>
        <p:spPr>
          <a:xfrm>
            <a:off x="10307944" y="3844082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9CE3E7-84B4-8219-22DB-23F2EC8E05DC}"/>
                  </a:ext>
                </a:extLst>
              </p:cNvPr>
              <p:cNvSpPr txBox="1"/>
              <p:nvPr/>
            </p:nvSpPr>
            <p:spPr>
              <a:xfrm>
                <a:off x="7941163" y="2879495"/>
                <a:ext cx="2282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9CE3E7-84B4-8219-22DB-23F2EC8E0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163" y="2879495"/>
                <a:ext cx="228203" cy="276999"/>
              </a:xfrm>
              <a:prstGeom prst="rect">
                <a:avLst/>
              </a:prstGeom>
              <a:blipFill>
                <a:blip r:embed="rId2"/>
                <a:stretch>
                  <a:fillRect l="-16216" r="-8108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77B1BD98-1092-7941-1635-64D3DBB18E30}"/>
              </a:ext>
            </a:extLst>
          </p:cNvPr>
          <p:cNvGrpSpPr/>
          <p:nvPr/>
        </p:nvGrpSpPr>
        <p:grpSpPr>
          <a:xfrm>
            <a:off x="7290303" y="2081243"/>
            <a:ext cx="2586564" cy="2993847"/>
            <a:chOff x="7718085" y="2683754"/>
            <a:chExt cx="2403684" cy="2242007"/>
          </a:xfrm>
        </p:grpSpPr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7BCF1BD-1F04-3764-685C-0935A4DD9F4B}"/>
                </a:ext>
              </a:extLst>
            </p:cNvPr>
            <p:cNvSpPr/>
            <p:nvPr/>
          </p:nvSpPr>
          <p:spPr>
            <a:xfrm>
              <a:off x="7718085" y="2795190"/>
              <a:ext cx="2403684" cy="2130571"/>
            </a:xfrm>
            <a:custGeom>
              <a:avLst/>
              <a:gdLst>
                <a:gd name="csX0" fmla="*/ 1395435 w 2403684"/>
                <a:gd name="csY0" fmla="*/ 92106 h 2244188"/>
                <a:gd name="csX1" fmla="*/ 3515 w 2403684"/>
                <a:gd name="csY1" fmla="*/ 732186 h 2244188"/>
                <a:gd name="csX2" fmla="*/ 1039835 w 2403684"/>
                <a:gd name="csY2" fmla="*/ 1931066 h 2244188"/>
                <a:gd name="csX3" fmla="*/ 2350475 w 2403684"/>
                <a:gd name="csY3" fmla="*/ 2113946 h 2244188"/>
                <a:gd name="csX4" fmla="*/ 2076155 w 2403684"/>
                <a:gd name="csY4" fmla="*/ 224186 h 2244188"/>
                <a:gd name="csX5" fmla="*/ 1395435 w 2403684"/>
                <a:gd name="csY5" fmla="*/ 92106 h 2244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403684" h="2244188">
                  <a:moveTo>
                    <a:pt x="1395435" y="92106"/>
                  </a:moveTo>
                  <a:cubicBezTo>
                    <a:pt x="1049995" y="176773"/>
                    <a:pt x="62782" y="425693"/>
                    <a:pt x="3515" y="732186"/>
                  </a:cubicBezTo>
                  <a:cubicBezTo>
                    <a:pt x="-55752" y="1038679"/>
                    <a:pt x="648675" y="1700773"/>
                    <a:pt x="1039835" y="1931066"/>
                  </a:cubicBezTo>
                  <a:cubicBezTo>
                    <a:pt x="1430995" y="2161359"/>
                    <a:pt x="2177755" y="2398426"/>
                    <a:pt x="2350475" y="2113946"/>
                  </a:cubicBezTo>
                  <a:cubicBezTo>
                    <a:pt x="2523195" y="1829466"/>
                    <a:pt x="2233635" y="561159"/>
                    <a:pt x="2076155" y="224186"/>
                  </a:cubicBezTo>
                  <a:cubicBezTo>
                    <a:pt x="1918675" y="-112787"/>
                    <a:pt x="1740875" y="7439"/>
                    <a:pt x="1395435" y="92106"/>
                  </a:cubicBezTo>
                  <a:close/>
                </a:path>
              </a:pathLst>
            </a:custGeom>
            <a:solidFill>
              <a:srgbClr val="156082">
                <a:alpha val="25098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79DB07E-2CC0-7DFF-B616-E5F812525228}"/>
                    </a:ext>
                  </a:extLst>
                </p:cNvPr>
                <p:cNvSpPr txBox="1"/>
                <p:nvPr/>
              </p:nvSpPr>
              <p:spPr>
                <a:xfrm>
                  <a:off x="8453501" y="2683754"/>
                  <a:ext cx="26968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15608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i="1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79DB07E-2CC0-7DFF-B616-E5F8125252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3501" y="2683754"/>
                  <a:ext cx="26968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8511" r="-63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5CB00EC-D4EA-DF6E-0291-DF787B948F31}"/>
              </a:ext>
            </a:extLst>
          </p:cNvPr>
          <p:cNvSpPr txBox="1"/>
          <p:nvPr/>
        </p:nvSpPr>
        <p:spPr>
          <a:xfrm>
            <a:off x="326924" y="282156"/>
            <a:ext cx="582911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Thomson's Bonds Model With Clustering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31C01-BAF7-6B70-F41A-DDA0BF7D2517}"/>
              </a:ext>
            </a:extLst>
          </p:cNvPr>
          <p:cNvSpPr txBox="1"/>
          <p:nvPr/>
        </p:nvSpPr>
        <p:spPr>
          <a:xfrm>
            <a:off x="-117465" y="831290"/>
            <a:ext cx="5270686" cy="656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/>
              <a:t>Certain test items activate certain clusters of bonds more than others.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4754C7-8B28-C56B-57C2-B23AA22D3E76}"/>
              </a:ext>
            </a:extLst>
          </p:cNvPr>
          <p:cNvCxnSpPr/>
          <p:nvPr/>
        </p:nvCxnSpPr>
        <p:spPr>
          <a:xfrm>
            <a:off x="6523716" y="1601568"/>
            <a:ext cx="1377863" cy="137786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E73879-2F91-B622-1106-E06E72910E52}"/>
              </a:ext>
            </a:extLst>
          </p:cNvPr>
          <p:cNvCxnSpPr>
            <a:cxnSpLocks/>
          </p:cNvCxnSpPr>
          <p:nvPr/>
        </p:nvCxnSpPr>
        <p:spPr>
          <a:xfrm>
            <a:off x="6533876" y="1601568"/>
            <a:ext cx="1692823" cy="236338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462C49D-C719-BBCB-3C8B-5D04E0CBC0BD}"/>
              </a:ext>
            </a:extLst>
          </p:cNvPr>
          <p:cNvCxnSpPr>
            <a:cxnSpLocks/>
          </p:cNvCxnSpPr>
          <p:nvPr/>
        </p:nvCxnSpPr>
        <p:spPr>
          <a:xfrm>
            <a:off x="6513556" y="1621888"/>
            <a:ext cx="2729143" cy="1926503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0E3BB48-58FC-74A4-BC13-5CF1B79829E0}"/>
              </a:ext>
            </a:extLst>
          </p:cNvPr>
          <p:cNvSpPr txBox="1"/>
          <p:nvPr/>
        </p:nvSpPr>
        <p:spPr>
          <a:xfrm>
            <a:off x="5822445" y="1054111"/>
            <a:ext cx="27820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Higher sampling probability for x1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6282841-AA9A-6F72-B07A-27E1F3D506F3}"/>
              </a:ext>
            </a:extLst>
          </p:cNvPr>
          <p:cNvCxnSpPr>
            <a:cxnSpLocks/>
          </p:cNvCxnSpPr>
          <p:nvPr/>
        </p:nvCxnSpPr>
        <p:spPr>
          <a:xfrm flipH="1">
            <a:off x="9720219" y="1408528"/>
            <a:ext cx="1324697" cy="320666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9162F19-1099-3368-6BEB-F2F291975443}"/>
              </a:ext>
            </a:extLst>
          </p:cNvPr>
          <p:cNvSpPr txBox="1"/>
          <p:nvPr/>
        </p:nvSpPr>
        <p:spPr>
          <a:xfrm>
            <a:off x="10385978" y="835671"/>
            <a:ext cx="27820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Lower sampling probability for x1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6BB6DB-98C0-6437-5E24-93A9342FC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14</a:t>
            </a:fld>
            <a:endParaRPr lang="en-NL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AB90DF9-CE00-E0D2-CE07-F7A7D3AA37C0}"/>
              </a:ext>
            </a:extLst>
          </p:cNvPr>
          <p:cNvSpPr/>
          <p:nvPr/>
        </p:nvSpPr>
        <p:spPr>
          <a:xfrm>
            <a:off x="480619" y="4330915"/>
            <a:ext cx="1659007" cy="11823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4F292E-9B93-4762-214D-65BB1565189A}"/>
              </a:ext>
            </a:extLst>
          </p:cNvPr>
          <p:cNvSpPr/>
          <p:nvPr/>
        </p:nvSpPr>
        <p:spPr>
          <a:xfrm>
            <a:off x="2380539" y="4341074"/>
            <a:ext cx="1659007" cy="11823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CFEB69A-08A8-8C8D-E1D4-4AE9723E6450}"/>
              </a:ext>
            </a:extLst>
          </p:cNvPr>
          <p:cNvSpPr/>
          <p:nvPr/>
        </p:nvSpPr>
        <p:spPr>
          <a:xfrm>
            <a:off x="4321099" y="4341074"/>
            <a:ext cx="1659007" cy="11823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373FC7EB-F873-17F4-31EC-BFFE53C0126F}"/>
              </a:ext>
            </a:extLst>
          </p:cNvPr>
          <p:cNvSpPr/>
          <p:nvPr/>
        </p:nvSpPr>
        <p:spPr>
          <a:xfrm>
            <a:off x="3046020" y="4638867"/>
            <a:ext cx="153174" cy="16423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1E35F478-A108-BE70-D335-CA9CDD8B3CD5}"/>
              </a:ext>
            </a:extLst>
          </p:cNvPr>
          <p:cNvSpPr/>
          <p:nvPr/>
        </p:nvSpPr>
        <p:spPr>
          <a:xfrm>
            <a:off x="3432100" y="4882707"/>
            <a:ext cx="153174" cy="16423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9D9120D1-AD5B-9DEB-A3C0-0169189F504C}"/>
              </a:ext>
            </a:extLst>
          </p:cNvPr>
          <p:cNvSpPr/>
          <p:nvPr/>
        </p:nvSpPr>
        <p:spPr>
          <a:xfrm>
            <a:off x="2588820" y="5085907"/>
            <a:ext cx="153174" cy="16423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73006632-143D-4EA7-6AB1-278F884FD4AF}"/>
              </a:ext>
            </a:extLst>
          </p:cNvPr>
          <p:cNvSpPr/>
          <p:nvPr/>
        </p:nvSpPr>
        <p:spPr>
          <a:xfrm>
            <a:off x="3137460" y="5167187"/>
            <a:ext cx="153174" cy="16423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25EEEDEE-1899-C908-DF27-DD96604F1DC7}"/>
              </a:ext>
            </a:extLst>
          </p:cNvPr>
          <p:cNvSpPr/>
          <p:nvPr/>
        </p:nvSpPr>
        <p:spPr>
          <a:xfrm>
            <a:off x="871780" y="4649027"/>
            <a:ext cx="153174" cy="16423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2CD9CB5A-5F52-79D3-924F-7145E8B7EBA9}"/>
              </a:ext>
            </a:extLst>
          </p:cNvPr>
          <p:cNvSpPr/>
          <p:nvPr/>
        </p:nvSpPr>
        <p:spPr>
          <a:xfrm>
            <a:off x="871780" y="5207827"/>
            <a:ext cx="153174" cy="16423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C29C452C-AF20-5956-E2D3-C4691238117B}"/>
              </a:ext>
            </a:extLst>
          </p:cNvPr>
          <p:cNvSpPr/>
          <p:nvPr/>
        </p:nvSpPr>
        <p:spPr>
          <a:xfrm>
            <a:off x="1308660" y="4984307"/>
            <a:ext cx="153174" cy="16423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9ECCBA59-6D3B-137D-F095-093F9D78B492}"/>
              </a:ext>
            </a:extLst>
          </p:cNvPr>
          <p:cNvSpPr/>
          <p:nvPr/>
        </p:nvSpPr>
        <p:spPr>
          <a:xfrm>
            <a:off x="1664260" y="4638867"/>
            <a:ext cx="153174" cy="16423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DC5DA83C-8E83-D254-2995-3372EE4204F7}"/>
              </a:ext>
            </a:extLst>
          </p:cNvPr>
          <p:cNvSpPr/>
          <p:nvPr/>
        </p:nvSpPr>
        <p:spPr>
          <a:xfrm>
            <a:off x="4539540" y="4567747"/>
            <a:ext cx="153174" cy="16423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1206AFF0-7EE6-9112-CCCB-C4383725B7DB}"/>
              </a:ext>
            </a:extLst>
          </p:cNvPr>
          <p:cNvSpPr/>
          <p:nvPr/>
        </p:nvSpPr>
        <p:spPr>
          <a:xfrm>
            <a:off x="4691940" y="5085907"/>
            <a:ext cx="153174" cy="16423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C52A0E86-ABC5-7C04-54FC-ABC7A822A27C}"/>
              </a:ext>
            </a:extLst>
          </p:cNvPr>
          <p:cNvSpPr/>
          <p:nvPr/>
        </p:nvSpPr>
        <p:spPr>
          <a:xfrm>
            <a:off x="4935780" y="4720147"/>
            <a:ext cx="153174" cy="16423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9B5ECF82-AE18-1D0E-32FA-FADA9BD34D21}"/>
              </a:ext>
            </a:extLst>
          </p:cNvPr>
          <p:cNvSpPr/>
          <p:nvPr/>
        </p:nvSpPr>
        <p:spPr>
          <a:xfrm>
            <a:off x="5433620" y="5085907"/>
            <a:ext cx="153174" cy="16423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F2F2D8-110A-F32A-1D3F-F47104CFBB57}"/>
              </a:ext>
            </a:extLst>
          </p:cNvPr>
          <p:cNvSpPr txBox="1"/>
          <p:nvPr/>
        </p:nvSpPr>
        <p:spPr>
          <a:xfrm>
            <a:off x="543474" y="3988747"/>
            <a:ext cx="15260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Verbal reasoning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89144E-EBFF-0E95-242C-FA93A789ABAD}"/>
              </a:ext>
            </a:extLst>
          </p:cNvPr>
          <p:cNvSpPr txBox="1"/>
          <p:nvPr/>
        </p:nvSpPr>
        <p:spPr>
          <a:xfrm>
            <a:off x="2443394" y="3988747"/>
            <a:ext cx="15260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Spatial reasoning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66B17B-110E-DF3C-5DFB-23742D6B2FBE}"/>
              </a:ext>
            </a:extLst>
          </p:cNvPr>
          <p:cNvSpPr txBox="1"/>
          <p:nvPr/>
        </p:nvSpPr>
        <p:spPr>
          <a:xfrm>
            <a:off x="4322994" y="3988747"/>
            <a:ext cx="191214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Numerical reasoning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448069-C127-56E1-BB88-2122B2645E68}"/>
              </a:ext>
            </a:extLst>
          </p:cNvPr>
          <p:cNvSpPr txBox="1"/>
          <p:nvPr/>
        </p:nvSpPr>
        <p:spPr>
          <a:xfrm>
            <a:off x="897868" y="1971212"/>
            <a:ext cx="506398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example item : A train travels 60 km in 1 hour. How far will it travel in 3 hours at the same speed?</a:t>
            </a:r>
            <a:endParaRPr lang="en-US"/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595E2675-191B-B7FF-1469-D43E90FB172E}"/>
              </a:ext>
            </a:extLst>
          </p:cNvPr>
          <p:cNvSpPr/>
          <p:nvPr/>
        </p:nvSpPr>
        <p:spPr>
          <a:xfrm>
            <a:off x="4690992" y="2959487"/>
            <a:ext cx="904584" cy="994646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251EA474-A7AF-FC3A-0F3A-C5B2805CC530}"/>
              </a:ext>
            </a:extLst>
          </p:cNvPr>
          <p:cNvSpPr/>
          <p:nvPr/>
        </p:nvSpPr>
        <p:spPr>
          <a:xfrm>
            <a:off x="3156831" y="2959486"/>
            <a:ext cx="274664" cy="984486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Arrow: Down 70">
            <a:extLst>
              <a:ext uri="{FF2B5EF4-FFF2-40B4-BE49-F238E27FC236}">
                <a16:creationId xmlns:a16="http://schemas.microsoft.com/office/drawing/2014/main" id="{2CA1AAFE-D429-76CF-6BB7-D5E494057AA6}"/>
              </a:ext>
            </a:extLst>
          </p:cNvPr>
          <p:cNvSpPr/>
          <p:nvPr/>
        </p:nvSpPr>
        <p:spPr>
          <a:xfrm>
            <a:off x="1114670" y="2929005"/>
            <a:ext cx="274664" cy="984486"/>
          </a:xfrm>
          <a:prstGeom prst="downArrow">
            <a:avLst/>
          </a:prstGeom>
          <a:solidFill>
            <a:srgbClr val="F2CF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lowchart: Connector 71">
            <a:extLst>
              <a:ext uri="{FF2B5EF4-FFF2-40B4-BE49-F238E27FC236}">
                <a16:creationId xmlns:a16="http://schemas.microsoft.com/office/drawing/2014/main" id="{F6F0A031-5B58-CBF3-8F02-B0271329EEFE}"/>
              </a:ext>
            </a:extLst>
          </p:cNvPr>
          <p:cNvSpPr/>
          <p:nvPr/>
        </p:nvSpPr>
        <p:spPr>
          <a:xfrm>
            <a:off x="8766100" y="5045267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lowchart: Connector 72">
            <a:extLst>
              <a:ext uri="{FF2B5EF4-FFF2-40B4-BE49-F238E27FC236}">
                <a16:creationId xmlns:a16="http://schemas.microsoft.com/office/drawing/2014/main" id="{16032555-8063-8A6B-03E1-D36CA8697589}"/>
              </a:ext>
            </a:extLst>
          </p:cNvPr>
          <p:cNvSpPr/>
          <p:nvPr/>
        </p:nvSpPr>
        <p:spPr>
          <a:xfrm>
            <a:off x="8451140" y="4455987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lowchart: Connector 73">
            <a:extLst>
              <a:ext uri="{FF2B5EF4-FFF2-40B4-BE49-F238E27FC236}">
                <a16:creationId xmlns:a16="http://schemas.microsoft.com/office/drawing/2014/main" id="{F0C0E52C-F96E-3B53-C58F-2DF49EB5FCD1}"/>
              </a:ext>
            </a:extLst>
          </p:cNvPr>
          <p:cNvSpPr/>
          <p:nvPr/>
        </p:nvSpPr>
        <p:spPr>
          <a:xfrm>
            <a:off x="9985300" y="4181667"/>
            <a:ext cx="325894" cy="326793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52F0FB-E21D-400F-CEE9-2EC5AAA79FAE}"/>
                  </a:ext>
                </a:extLst>
              </p:cNvPr>
              <p:cNvSpPr txBox="1"/>
              <p:nvPr/>
            </p:nvSpPr>
            <p:spPr>
              <a:xfrm>
                <a:off x="758200" y="2008905"/>
                <a:ext cx="2423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52F0FB-E21D-400F-CEE9-2EC5AAA79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00" y="2008905"/>
                <a:ext cx="242310" cy="276999"/>
              </a:xfrm>
              <a:prstGeom prst="rect">
                <a:avLst/>
              </a:prstGeom>
              <a:blipFill>
                <a:blip r:embed="rId4"/>
                <a:stretch>
                  <a:fillRect l="-15000" r="-750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Freeform 45">
            <a:extLst>
              <a:ext uri="{FF2B5EF4-FFF2-40B4-BE49-F238E27FC236}">
                <a16:creationId xmlns:a16="http://schemas.microsoft.com/office/drawing/2014/main" id="{71639730-462D-58C1-B958-68B5C9865AD4}"/>
              </a:ext>
            </a:extLst>
          </p:cNvPr>
          <p:cNvSpPr/>
          <p:nvPr/>
        </p:nvSpPr>
        <p:spPr>
          <a:xfrm rot="14820000">
            <a:off x="8293656" y="4366318"/>
            <a:ext cx="2224097" cy="1611271"/>
          </a:xfrm>
          <a:custGeom>
            <a:avLst/>
            <a:gdLst>
              <a:gd name="csX0" fmla="*/ 2105201 w 2600017"/>
              <a:gd name="csY0" fmla="*/ 52 h 2278203"/>
              <a:gd name="csX1" fmla="*/ 559429 w 2600017"/>
              <a:gd name="csY1" fmla="*/ 544337 h 2278203"/>
              <a:gd name="csX2" fmla="*/ 4258 w 2600017"/>
              <a:gd name="csY2" fmla="*/ 2177194 h 2278203"/>
              <a:gd name="csX3" fmla="*/ 798915 w 2600017"/>
              <a:gd name="csY3" fmla="*/ 1981252 h 2278203"/>
              <a:gd name="csX4" fmla="*/ 1310544 w 2600017"/>
              <a:gd name="csY4" fmla="*/ 979766 h 2278203"/>
              <a:gd name="csX5" fmla="*/ 2562401 w 2600017"/>
              <a:gd name="csY5" fmla="*/ 566109 h 2278203"/>
              <a:gd name="csX6" fmla="*/ 2105201 w 2600017"/>
              <a:gd name="csY6" fmla="*/ 52 h 2278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00017" h="2278203">
                <a:moveTo>
                  <a:pt x="2105201" y="52"/>
                </a:moveTo>
                <a:cubicBezTo>
                  <a:pt x="1771372" y="-3577"/>
                  <a:pt x="909586" y="181480"/>
                  <a:pt x="559429" y="544337"/>
                </a:cubicBezTo>
                <a:cubicBezTo>
                  <a:pt x="209272" y="907194"/>
                  <a:pt x="-35656" y="1937708"/>
                  <a:pt x="4258" y="2177194"/>
                </a:cubicBezTo>
                <a:cubicBezTo>
                  <a:pt x="44172" y="2416680"/>
                  <a:pt x="581201" y="2180823"/>
                  <a:pt x="798915" y="1981252"/>
                </a:cubicBezTo>
                <a:cubicBezTo>
                  <a:pt x="1016629" y="1781681"/>
                  <a:pt x="1016630" y="1215623"/>
                  <a:pt x="1310544" y="979766"/>
                </a:cubicBezTo>
                <a:cubicBezTo>
                  <a:pt x="1604458" y="743909"/>
                  <a:pt x="2424515" y="729395"/>
                  <a:pt x="2562401" y="566109"/>
                </a:cubicBezTo>
                <a:cubicBezTo>
                  <a:pt x="2700287" y="402823"/>
                  <a:pt x="2439030" y="3681"/>
                  <a:pt x="2105201" y="52"/>
                </a:cubicBezTo>
                <a:close/>
              </a:path>
            </a:pathLst>
          </a:custGeom>
          <a:solidFill>
            <a:srgbClr val="F2CFEE">
              <a:alpha val="5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E71463E-4630-F3A0-502A-1824CE9A91EF}"/>
              </a:ext>
            </a:extLst>
          </p:cNvPr>
          <p:cNvSpPr/>
          <p:nvPr/>
        </p:nvSpPr>
        <p:spPr>
          <a:xfrm>
            <a:off x="9408498" y="3645697"/>
            <a:ext cx="2122497" cy="1529991"/>
          </a:xfrm>
          <a:custGeom>
            <a:avLst/>
            <a:gdLst>
              <a:gd name="csX0" fmla="*/ 2105201 w 2600017"/>
              <a:gd name="csY0" fmla="*/ 52 h 2278203"/>
              <a:gd name="csX1" fmla="*/ 559429 w 2600017"/>
              <a:gd name="csY1" fmla="*/ 544337 h 2278203"/>
              <a:gd name="csX2" fmla="*/ 4258 w 2600017"/>
              <a:gd name="csY2" fmla="*/ 2177194 h 2278203"/>
              <a:gd name="csX3" fmla="*/ 798915 w 2600017"/>
              <a:gd name="csY3" fmla="*/ 1981252 h 2278203"/>
              <a:gd name="csX4" fmla="*/ 1310544 w 2600017"/>
              <a:gd name="csY4" fmla="*/ 979766 h 2278203"/>
              <a:gd name="csX5" fmla="*/ 2562401 w 2600017"/>
              <a:gd name="csY5" fmla="*/ 566109 h 2278203"/>
              <a:gd name="csX6" fmla="*/ 2105201 w 2600017"/>
              <a:gd name="csY6" fmla="*/ 52 h 2278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00017" h="2278203">
                <a:moveTo>
                  <a:pt x="2105201" y="52"/>
                </a:moveTo>
                <a:cubicBezTo>
                  <a:pt x="1771372" y="-3577"/>
                  <a:pt x="909586" y="181480"/>
                  <a:pt x="559429" y="544337"/>
                </a:cubicBezTo>
                <a:cubicBezTo>
                  <a:pt x="209272" y="907194"/>
                  <a:pt x="-35656" y="1937708"/>
                  <a:pt x="4258" y="2177194"/>
                </a:cubicBezTo>
                <a:cubicBezTo>
                  <a:pt x="44172" y="2416680"/>
                  <a:pt x="581201" y="2180823"/>
                  <a:pt x="798915" y="1981252"/>
                </a:cubicBezTo>
                <a:cubicBezTo>
                  <a:pt x="1016629" y="1781681"/>
                  <a:pt x="1016630" y="1215623"/>
                  <a:pt x="1310544" y="979766"/>
                </a:cubicBezTo>
                <a:cubicBezTo>
                  <a:pt x="1604458" y="743909"/>
                  <a:pt x="2424515" y="729395"/>
                  <a:pt x="2562401" y="566109"/>
                </a:cubicBezTo>
                <a:cubicBezTo>
                  <a:pt x="2700287" y="402823"/>
                  <a:pt x="2439030" y="3681"/>
                  <a:pt x="2105201" y="52"/>
                </a:cubicBezTo>
                <a:close/>
              </a:path>
            </a:pathLst>
          </a:custGeom>
          <a:solidFill>
            <a:srgbClr val="E9713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62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17DE4-2DD4-1301-5129-0DB63244B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66727A-A8A9-F391-B38F-0274B3CC0122}"/>
              </a:ext>
            </a:extLst>
          </p:cNvPr>
          <p:cNvSpPr txBox="1"/>
          <p:nvPr/>
        </p:nvSpPr>
        <p:spPr>
          <a:xfrm>
            <a:off x="371554" y="307556"/>
            <a:ext cx="59896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Thomson's Bonds Model With Clustering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CACA6-896C-90E0-F9BB-D821FC0BD9C7}"/>
              </a:ext>
            </a:extLst>
          </p:cNvPr>
          <p:cNvSpPr txBox="1"/>
          <p:nvPr/>
        </p:nvSpPr>
        <p:spPr>
          <a:xfrm>
            <a:off x="374542" y="1116566"/>
            <a:ext cx="4215538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## Bonds are assigned to 'clusters'</a:t>
            </a:r>
          </a:p>
          <a:p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bond_cluster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&lt;- c(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  rep(1, 333),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  rep(2, 333),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  rep(3, 334)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)</a:t>
            </a:r>
          </a:p>
          <a:p>
            <a:endParaRPr lang="en-US" sz="100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## Each item to its associated "higher sampling  probability" cluster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item_group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&lt;- rep(1:3, each = 4) </a:t>
            </a:r>
          </a:p>
          <a:p>
            <a:endParaRPr lang="en-US" sz="1000">
              <a:solidFill>
                <a:schemeClr val="accent5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high_p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&lt;- .7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low_p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&lt;- .3</a:t>
            </a:r>
          </a:p>
          <a:p>
            <a:endParaRPr lang="en-US" sz="1000">
              <a:solidFill>
                <a:schemeClr val="accent5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# Initialize and populate probability and indicator matrix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cluster_prob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&lt;- matrix(NA,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nrow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X_num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ncol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N)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A &lt;- matrix(NA,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nrow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X_num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ncol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N)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for (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in 1:X_num){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  for(j in 1:N){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    if (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item_group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 ==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bond_cluster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[j]) {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     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cluster_prob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i,j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 &lt;-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high_p</a:t>
            </a:r>
            <a:endParaRPr lang="en-US" sz="1000">
              <a:solidFill>
                <a:schemeClr val="accent5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      p &lt;-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high_p</a:t>
            </a:r>
            <a:endParaRPr lang="en-US" sz="1000">
              <a:solidFill>
                <a:schemeClr val="accent5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    } else {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     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cluster_prob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i,j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 &lt;-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low_p</a:t>
            </a:r>
            <a:endParaRPr lang="en-US" sz="1000">
              <a:solidFill>
                <a:schemeClr val="accent5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      p &lt;-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low_p</a:t>
            </a:r>
            <a:endParaRPr lang="en-US" sz="1000">
              <a:solidFill>
                <a:schemeClr val="accent5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    }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    A[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i,j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 &lt;- </a:t>
            </a:r>
            <a:r>
              <a:rPr lang="en-US" sz="1000" err="1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rbinom</a:t>
            </a:r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(1, size = 1, prob = p)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   }</a:t>
            </a:r>
          </a:p>
          <a:p>
            <a:r>
              <a:rPr lang="en-US" sz="1000">
                <a:solidFill>
                  <a:schemeClr val="accent5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  }</a:t>
            </a:r>
          </a:p>
          <a:p>
            <a:endParaRPr lang="en-US" sz="100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22" name="Picture 21" descr="A diagram of a sample&#10;&#10;AI-generated content may be incorrect.">
            <a:extLst>
              <a:ext uri="{FF2B5EF4-FFF2-40B4-BE49-F238E27FC236}">
                <a16:creationId xmlns:a16="http://schemas.microsoft.com/office/drawing/2014/main" id="{403351E3-9E5B-4C20-3063-E0DF723D8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613" y="146503"/>
            <a:ext cx="3497610" cy="280417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E404FF-7C27-D2D0-7776-7A9544F75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15</a:t>
            </a:fld>
            <a:endParaRPr lang="en-NL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AD59AC8-386F-0BF6-4217-C696A265905A}"/>
              </a:ext>
            </a:extLst>
          </p:cNvPr>
          <p:cNvSpPr/>
          <p:nvPr/>
        </p:nvSpPr>
        <p:spPr>
          <a:xfrm>
            <a:off x="179294" y="2804673"/>
            <a:ext cx="1780134" cy="377798"/>
          </a:xfrm>
          <a:prstGeom prst="ellipse">
            <a:avLst/>
          </a:prstGeom>
          <a:solidFill>
            <a:srgbClr val="FAD464">
              <a:alpha val="32000"/>
            </a:srgbClr>
          </a:solidFill>
          <a:ln>
            <a:solidFill>
              <a:srgbClr val="FAD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a bond selection&#10;&#10;AI-generated content may be incorrect.">
            <a:extLst>
              <a:ext uri="{FF2B5EF4-FFF2-40B4-BE49-F238E27FC236}">
                <a16:creationId xmlns:a16="http://schemas.microsoft.com/office/drawing/2014/main" id="{291AD7E0-9918-9851-0988-15E3381F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047" y="3067209"/>
            <a:ext cx="5850307" cy="347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91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93555-BBC3-ED77-EC21-21562A75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CCC5B2-D977-7566-D362-4F51EC1F9F22}"/>
              </a:ext>
            </a:extLst>
          </p:cNvPr>
          <p:cNvSpPr txBox="1"/>
          <p:nvPr/>
        </p:nvSpPr>
        <p:spPr>
          <a:xfrm>
            <a:off x="345455" y="384744"/>
            <a:ext cx="563414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Clustered Bonds JASP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F0EBB2-C09D-EB9C-F188-A630181A8BF6}"/>
              </a:ext>
            </a:extLst>
          </p:cNvPr>
          <p:cNvSpPr txBox="1"/>
          <p:nvPr/>
        </p:nvSpPr>
        <p:spPr>
          <a:xfrm>
            <a:off x="5478162" y="27184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D8E470-F2ED-1352-E48E-8AA28F6EDFCE}"/>
              </a:ext>
            </a:extLst>
          </p:cNvPr>
          <p:cNvSpPr txBox="1"/>
          <p:nvPr/>
        </p:nvSpPr>
        <p:spPr>
          <a:xfrm>
            <a:off x="5662893" y="1307737"/>
            <a:ext cx="6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/>
          </a:p>
          <a:p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532FDFE-986D-FFD3-4389-CBD074D2F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030915"/>
              </p:ext>
            </p:extLst>
          </p:nvPr>
        </p:nvGraphicFramePr>
        <p:xfrm>
          <a:off x="5805714" y="5137338"/>
          <a:ext cx="6200960" cy="147637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550240">
                  <a:extLst>
                    <a:ext uri="{9D8B030D-6E8A-4147-A177-3AD203B41FA5}">
                      <a16:colId xmlns:a16="http://schemas.microsoft.com/office/drawing/2014/main" val="2387651248"/>
                    </a:ext>
                  </a:extLst>
                </a:gridCol>
                <a:gridCol w="1550240">
                  <a:extLst>
                    <a:ext uri="{9D8B030D-6E8A-4147-A177-3AD203B41FA5}">
                      <a16:colId xmlns:a16="http://schemas.microsoft.com/office/drawing/2014/main" val="3960206452"/>
                    </a:ext>
                  </a:extLst>
                </a:gridCol>
                <a:gridCol w="1550240">
                  <a:extLst>
                    <a:ext uri="{9D8B030D-6E8A-4147-A177-3AD203B41FA5}">
                      <a16:colId xmlns:a16="http://schemas.microsoft.com/office/drawing/2014/main" val="3715280539"/>
                    </a:ext>
                  </a:extLst>
                </a:gridCol>
                <a:gridCol w="1550240">
                  <a:extLst>
                    <a:ext uri="{9D8B030D-6E8A-4147-A177-3AD203B41FA5}">
                      <a16:colId xmlns:a16="http://schemas.microsoft.com/office/drawing/2014/main" val="3131469459"/>
                    </a:ext>
                  </a:extLst>
                </a:gridCol>
              </a:tblGrid>
              <a:tr h="266200">
                <a:tc gridSpan="4">
                  <a:txBody>
                    <a:bodyPr/>
                    <a:lstStyle/>
                    <a:p>
                      <a:pPr marL="0" marR="0" algn="l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 i="1">
                          <a:effectLst/>
                        </a:rPr>
                        <a:t>Chi-square test </a:t>
                      </a:r>
                      <a:endParaRPr lang="en-US" sz="1200" b="0" i="1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R="95250" marT="57150" marB="5715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29567"/>
                  </a:ext>
                </a:extLst>
              </a:tr>
              <a:tr h="205700">
                <a:tc>
                  <a:txBody>
                    <a:bodyPr/>
                    <a:lstStyle/>
                    <a:p>
                      <a:pPr marL="0" marR="0" algn="ct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Model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28575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Χ²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28575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df</a:t>
                      </a:r>
                      <a:endParaRPr lang="en-US" sz="1200" b="0" i="0" err="1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28575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28575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199890"/>
                  </a:ext>
                </a:extLst>
              </a:tr>
              <a:tr h="284349">
                <a:tc>
                  <a:txBody>
                    <a:bodyPr/>
                    <a:lstStyle/>
                    <a:p>
                      <a:pPr marL="0" marR="0" algn="l" fontAlgn="b">
                        <a:spcAft>
                          <a:spcPts val="72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Baseline model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102870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b">
                        <a:spcAft>
                          <a:spcPts val="72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2435.390</a:t>
                      </a:r>
                    </a:p>
                  </a:txBody>
                  <a:tcPr marL="114300" marR="114300" marT="102870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b">
                        <a:spcAft>
                          <a:spcPts val="72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66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102870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b">
                        <a:spcAft>
                          <a:spcPts val="720"/>
                        </a:spcAft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102870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938061"/>
                  </a:ext>
                </a:extLst>
              </a:tr>
              <a:tr h="185534">
                <a:tc>
                  <a:txBody>
                    <a:bodyPr/>
                    <a:lstStyle/>
                    <a:p>
                      <a:pPr marL="0" marR="0" algn="l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Factor model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9525" marB="2857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51.610</a:t>
                      </a:r>
                    </a:p>
                  </a:txBody>
                  <a:tcPr marL="114300" marR="114300" marT="9525" marB="2857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51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9525" marB="2857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r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.450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9525" marB="2857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426629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algn="l" fontAlgn="b">
                        <a:spcAft>
                          <a:spcPts val="1800"/>
                        </a:spcAft>
                        <a:buNone/>
                      </a:pPr>
                      <a:r>
                        <a:rPr lang="en-US" sz="1200" i="1">
                          <a:effectLst/>
                        </a:rPr>
                        <a:t>Note.   </a:t>
                      </a:r>
                      <a:r>
                        <a:rPr lang="en-US" sz="1200">
                          <a:effectLst/>
                        </a:rPr>
                        <a:t>The estimator is ML. The test statistic is standard. The standard error method is standard.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Lucida Grande" panose="020B0600040502020204" pitchFamily="34" charset="0"/>
                      </a:endParaRPr>
                    </a:p>
                  </a:txBody>
                  <a:tcPr marL="114300" marR="114300" marT="9525" marB="28575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043935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93381A7D-7A1A-0FD9-F491-95F26F1E2753}"/>
              </a:ext>
            </a:extLst>
          </p:cNvPr>
          <p:cNvSpPr txBox="1"/>
          <p:nvPr/>
        </p:nvSpPr>
        <p:spPr>
          <a:xfrm>
            <a:off x="5838002" y="1713321"/>
            <a:ext cx="277123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/>
              <a:t>Confirmatory Factor Analysis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854B3A-D8AA-CD0C-600D-13A23DEA2954}"/>
              </a:ext>
            </a:extLst>
          </p:cNvPr>
          <p:cNvSpPr txBox="1"/>
          <p:nvPr/>
        </p:nvSpPr>
        <p:spPr>
          <a:xfrm>
            <a:off x="345455" y="1102063"/>
            <a:ext cx="187504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/>
              <a:t>Network Analysis</a:t>
            </a:r>
          </a:p>
        </p:txBody>
      </p:sp>
      <p:pic>
        <p:nvPicPr>
          <p:cNvPr id="4" name="Picture 3" descr="A network of blue lines and dots&#10;&#10;AI-generated content may be incorrect.">
            <a:extLst>
              <a:ext uri="{FF2B5EF4-FFF2-40B4-BE49-F238E27FC236}">
                <a16:creationId xmlns:a16="http://schemas.microsoft.com/office/drawing/2014/main" id="{81FC3CA1-0D08-025A-884F-65F3AE4A5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16" y="1440052"/>
            <a:ext cx="3879214" cy="3609812"/>
          </a:xfrm>
          <a:prstGeom prst="rect">
            <a:avLst/>
          </a:prstGeom>
        </p:spPr>
      </p:pic>
      <p:pic>
        <p:nvPicPr>
          <p:cNvPr id="5" name="Picture 4" descr="A black and white rectangular object with text&#10;&#10;AI-generated content may be incorrect.">
            <a:extLst>
              <a:ext uri="{FF2B5EF4-FFF2-40B4-BE49-F238E27FC236}">
                <a16:creationId xmlns:a16="http://schemas.microsoft.com/office/drawing/2014/main" id="{2F5CF1A5-30CF-A66B-D10F-13F8E24EA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36" y="5239557"/>
            <a:ext cx="4798986" cy="1073581"/>
          </a:xfrm>
          <a:prstGeom prst="rect">
            <a:avLst/>
          </a:prstGeom>
        </p:spPr>
      </p:pic>
      <p:pic>
        <p:nvPicPr>
          <p:cNvPr id="6" name="Picture 5" descr="A diagram of a network&#10;&#10;AI-generated content may be incorrect.">
            <a:extLst>
              <a:ext uri="{FF2B5EF4-FFF2-40B4-BE49-F238E27FC236}">
                <a16:creationId xmlns:a16="http://schemas.microsoft.com/office/drawing/2014/main" id="{5C0942CF-6875-CCB9-E9B2-D82B840B4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407" y="2337661"/>
            <a:ext cx="5437322" cy="2712204"/>
          </a:xfrm>
          <a:prstGeom prst="rect">
            <a:avLst/>
          </a:prstGeom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E72A3978-FACB-8E72-9F0D-E4B69A1BE538}"/>
              </a:ext>
            </a:extLst>
          </p:cNvPr>
          <p:cNvSpPr txBox="1"/>
          <p:nvPr/>
        </p:nvSpPr>
        <p:spPr>
          <a:xfrm>
            <a:off x="5669336" y="225327"/>
            <a:ext cx="6773586" cy="175432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/>
              <a:buChar char="v"/>
            </a:pPr>
            <a:r>
              <a:rPr lang="en-US">
                <a:solidFill>
                  <a:srgbClr val="C00000"/>
                </a:solidFill>
              </a:rPr>
              <a:t>How does sampling procedure affect robustness/ statistical parity of bonds model with the two-factor model? </a:t>
            </a:r>
            <a:endParaRPr lang="en-US"/>
          </a:p>
          <a:p>
            <a:endParaRPr lang="en-US">
              <a:solidFill>
                <a:srgbClr val="C00000"/>
              </a:solidFill>
            </a:endParaRPr>
          </a:p>
          <a:p>
            <a:pPr marL="285750" indent="-285750">
              <a:buFont typeface="Wingdings"/>
              <a:buChar char="v"/>
            </a:pPr>
            <a:r>
              <a:rPr lang="en-US">
                <a:solidFill>
                  <a:srgbClr val="C00000"/>
                </a:solidFill>
              </a:rPr>
              <a:t>How does our definition of bonds inform the sampling </a:t>
            </a:r>
            <a:r>
              <a:rPr lang="en-US" err="1">
                <a:solidFill>
                  <a:srgbClr val="C00000"/>
                </a:solidFill>
              </a:rPr>
              <a:t>prodcedure</a:t>
            </a:r>
            <a:r>
              <a:rPr lang="en-US">
                <a:solidFill>
                  <a:srgbClr val="C00000"/>
                </a:solidFill>
              </a:rPr>
              <a:t> we implement? </a:t>
            </a:r>
            <a:endParaRPr lang="en-US"/>
          </a:p>
          <a:p>
            <a:r>
              <a:rPr lang="en-US">
                <a:solidFill>
                  <a:srgbClr val="C00000"/>
                </a:solidFill>
              </a:rPr>
              <a:t> 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670A10-3469-4D9B-331F-284B28CD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46260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F2A2E8-278A-8147-3F79-E3F131415810}"/>
              </a:ext>
            </a:extLst>
          </p:cNvPr>
          <p:cNvSpPr txBox="1"/>
          <p:nvPr/>
        </p:nvSpPr>
        <p:spPr>
          <a:xfrm>
            <a:off x="1911578" y="295336"/>
            <a:ext cx="785421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/>
              <a:t>Picking your boat: the question of model utility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5AD87-CB73-13DD-9E42-06C058386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17</a:t>
            </a:fld>
            <a:endParaRPr lang="en-N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9BDAD1-4200-97E4-379F-0080865A2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459"/>
              </p:ext>
            </p:extLst>
          </p:nvPr>
        </p:nvGraphicFramePr>
        <p:xfrm>
          <a:off x="541261" y="2594580"/>
          <a:ext cx="11109478" cy="3881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0694">
                  <a:extLst>
                    <a:ext uri="{9D8B030D-6E8A-4147-A177-3AD203B41FA5}">
                      <a16:colId xmlns:a16="http://schemas.microsoft.com/office/drawing/2014/main" val="516957881"/>
                    </a:ext>
                  </a:extLst>
                </a:gridCol>
                <a:gridCol w="1847088">
                  <a:extLst>
                    <a:ext uri="{9D8B030D-6E8A-4147-A177-3AD203B41FA5}">
                      <a16:colId xmlns:a16="http://schemas.microsoft.com/office/drawing/2014/main" val="2728848683"/>
                    </a:ext>
                  </a:extLst>
                </a:gridCol>
                <a:gridCol w="2724912">
                  <a:extLst>
                    <a:ext uri="{9D8B030D-6E8A-4147-A177-3AD203B41FA5}">
                      <a16:colId xmlns:a16="http://schemas.microsoft.com/office/drawing/2014/main" val="2187689411"/>
                    </a:ext>
                  </a:extLst>
                </a:gridCol>
                <a:gridCol w="3986784">
                  <a:extLst>
                    <a:ext uri="{9D8B030D-6E8A-4147-A177-3AD203B41FA5}">
                      <a16:colId xmlns:a16="http://schemas.microsoft.com/office/drawing/2014/main" val="2855125280"/>
                    </a:ext>
                  </a:extLst>
                </a:gridCol>
              </a:tblGrid>
              <a:tr h="4580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Variants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Positive Manifold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Equivalent Covariance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Explanation of Manifold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54044"/>
                  </a:ext>
                </a:extLst>
              </a:tr>
              <a:tr h="406790">
                <a:tc>
                  <a:txBody>
                    <a:bodyPr/>
                    <a:lstStyle/>
                    <a:p>
                      <a:r>
                        <a:rPr lang="en-US"/>
                        <a:t>Two-Factor (Spearman)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Underlying common source,  </a:t>
                      </a:r>
                      <a:r>
                        <a:rPr lang="en-US" i="1"/>
                        <a:t>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701712"/>
                  </a:ext>
                </a:extLst>
              </a:tr>
              <a:tr h="406790">
                <a:tc>
                  <a:txBody>
                    <a:bodyPr/>
                    <a:lstStyle/>
                    <a:p>
                      <a:r>
                        <a:rPr lang="en-US"/>
                        <a:t>Mutualism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*for certain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Reciprocally reinforcing processes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5709065"/>
                  </a:ext>
                </a:extLst>
              </a:tr>
              <a:tr h="702130">
                <a:tc>
                  <a:txBody>
                    <a:bodyPr/>
                    <a:lstStyle/>
                    <a:p>
                      <a:r>
                        <a:rPr lang="en-US"/>
                        <a:t>Mutualism with overlap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*for certain conditions (maybe?)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Overlap in constructs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3569973"/>
                  </a:ext>
                </a:extLst>
              </a:tr>
              <a:tr h="406790">
                <a:tc>
                  <a:txBody>
                    <a:bodyPr/>
                    <a:lstStyle/>
                    <a:p>
                      <a:r>
                        <a:rPr lang="en-US"/>
                        <a:t>Thomson’s Bonds (Sampling)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* for certain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Overlap in samples of elementary cognitive processes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322687"/>
                  </a:ext>
                </a:extLst>
              </a:tr>
              <a:tr h="406790">
                <a:tc>
                  <a:txBody>
                    <a:bodyPr/>
                    <a:lstStyle/>
                    <a:p>
                      <a:r>
                        <a:rPr lang="en-US"/>
                        <a:t>Bonds with clusters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✅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* for certain conditions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"  "    with clusters of frequently co-occurring processes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77733"/>
                  </a:ext>
                </a:extLst>
              </a:tr>
            </a:tbl>
          </a:graphicData>
        </a:graphic>
      </p:graphicFrame>
      <p:pic>
        <p:nvPicPr>
          <p:cNvPr id="7" name="Picture 6" descr="A black and white boat&#10;&#10;AI-generated content may be incorrect.">
            <a:extLst>
              <a:ext uri="{FF2B5EF4-FFF2-40B4-BE49-F238E27FC236}">
                <a16:creationId xmlns:a16="http://schemas.microsoft.com/office/drawing/2014/main" id="{96FC73B1-DF1D-D80C-30A5-B3092EF6D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179" y="1377693"/>
            <a:ext cx="945698" cy="518435"/>
          </a:xfrm>
          <a:prstGeom prst="rect">
            <a:avLst/>
          </a:prstGeom>
        </p:spPr>
      </p:pic>
      <p:pic>
        <p:nvPicPr>
          <p:cNvPr id="8" name="Picture 7" descr="A black and white sailboat&#10;&#10;AI-generated content may be incorrect.">
            <a:extLst>
              <a:ext uri="{FF2B5EF4-FFF2-40B4-BE49-F238E27FC236}">
                <a16:creationId xmlns:a16="http://schemas.microsoft.com/office/drawing/2014/main" id="{1F0B3B2C-BC6F-4B5E-8E2F-C47049A26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112" y="1153939"/>
            <a:ext cx="772886" cy="681718"/>
          </a:xfrm>
          <a:prstGeom prst="rect">
            <a:avLst/>
          </a:prstGeom>
        </p:spPr>
      </p:pic>
      <p:pic>
        <p:nvPicPr>
          <p:cNvPr id="9" name="Picture 8" descr="A black silhouette of a ship&#10;&#10;AI-generated content may be incorrect.">
            <a:extLst>
              <a:ext uri="{FF2B5EF4-FFF2-40B4-BE49-F238E27FC236}">
                <a16:creationId xmlns:a16="http://schemas.microsoft.com/office/drawing/2014/main" id="{95E8F9A6-3AD5-4B7F-63EB-6EAAF0A3A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141" y="1338993"/>
            <a:ext cx="876302" cy="496664"/>
          </a:xfrm>
          <a:prstGeom prst="rect">
            <a:avLst/>
          </a:prstGeom>
        </p:spPr>
      </p:pic>
      <p:sp>
        <p:nvSpPr>
          <p:cNvPr id="11" name="Connector 10">
            <a:extLst>
              <a:ext uri="{FF2B5EF4-FFF2-40B4-BE49-F238E27FC236}">
                <a16:creationId xmlns:a16="http://schemas.microsoft.com/office/drawing/2014/main" id="{D58614CC-D960-4CF8-C51A-71188B953D60}"/>
              </a:ext>
            </a:extLst>
          </p:cNvPr>
          <p:cNvSpPr/>
          <p:nvPr/>
        </p:nvSpPr>
        <p:spPr>
          <a:xfrm>
            <a:off x="721516" y="973314"/>
            <a:ext cx="10131552" cy="1327195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17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6B92-7288-3E8E-4A4D-5412013F6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1" y="201818"/>
            <a:ext cx="6705600" cy="1520297"/>
          </a:xfrm>
        </p:spPr>
        <p:txBody>
          <a:bodyPr>
            <a:normAutofit/>
          </a:bodyPr>
          <a:lstStyle/>
          <a:p>
            <a:r>
              <a:rPr lang="en-US"/>
              <a:t>Thank you for your attention!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039DD-A8DE-E056-145A-C9DD7C561D99}"/>
              </a:ext>
            </a:extLst>
          </p:cNvPr>
          <p:cNvSpPr txBox="1"/>
          <p:nvPr/>
        </p:nvSpPr>
        <p:spPr>
          <a:xfrm>
            <a:off x="666749" y="1741714"/>
            <a:ext cx="10967357" cy="44319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Bartholomew, D. J., </a:t>
            </a:r>
            <a:r>
              <a:rPr lang="en-US" sz="1600" err="1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Allerhand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, M., &amp; Deary, I. J. (2013). Measuring mental capacity: Thomson’s Bonds model and Spearman’s g-model compared. </a:t>
            </a:r>
            <a:r>
              <a:rPr lang="en-US" sz="1600" i="1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Intelligence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1600" i="1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41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(4), 222–233. 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  <a:hlinkClick r:id="rId2"/>
              </a:rPr>
              <a:t>https://doi.org/10.1016/j.intell.2013.03.007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endParaRPr lang="en-US" sz="1600">
              <a:solidFill>
                <a:srgbClr val="000000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Bartholomew, D. J., Deary, I. J., &amp; Lawn, M. (2009a). A new lease of life for Thomson’s bonds model of intelligence. </a:t>
            </a:r>
            <a:r>
              <a:rPr lang="en-US" sz="1600" i="1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Psychological Review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1600" i="1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116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</a:rPr>
              <a:t>(3), 567–579. 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ea typeface="+mn-lt"/>
                <a:cs typeface="+mn-lt"/>
                <a:hlinkClick r:id="rId3"/>
              </a:rPr>
              <a:t>https://doi.org/10.1037/a0016262</a:t>
            </a:r>
            <a:endParaRPr lang="en-US" sz="1600">
              <a:solidFill>
                <a:srgbClr val="000000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endParaRPr lang="en-US" sz="1600">
              <a:solidFill>
                <a:srgbClr val="1B1B1B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en-US" sz="1600">
                <a:solidFill>
                  <a:srgbClr val="1B1B1B"/>
                </a:solidFill>
                <a:highlight>
                  <a:srgbClr val="FFFFFF"/>
                </a:highlight>
                <a:ea typeface="+mn-lt"/>
                <a:cs typeface="+mn-lt"/>
              </a:rPr>
              <a:t>Savi, A. O., Marsman, M., van der Maas, H. L. J., &amp; Maris, G. K. J. (2019). The Wiring of Intelligence. </a:t>
            </a:r>
            <a:r>
              <a:rPr lang="en-US" sz="1600" i="1">
                <a:solidFill>
                  <a:srgbClr val="1B1B1B"/>
                </a:solidFill>
                <a:highlight>
                  <a:srgbClr val="FFFFFF"/>
                </a:highlight>
                <a:ea typeface="+mn-lt"/>
                <a:cs typeface="+mn-lt"/>
              </a:rPr>
              <a:t>Perspectives on psychological science : a journal of the Association for Psychological Science</a:t>
            </a:r>
            <a:r>
              <a:rPr lang="en-US" sz="1600">
                <a:solidFill>
                  <a:srgbClr val="1B1B1B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1600" i="1">
                <a:solidFill>
                  <a:srgbClr val="1B1B1B"/>
                </a:solidFill>
                <a:highlight>
                  <a:srgbClr val="FFFFFF"/>
                </a:highlight>
                <a:ea typeface="+mn-lt"/>
                <a:cs typeface="+mn-lt"/>
              </a:rPr>
              <a:t>14</a:t>
            </a:r>
            <a:r>
              <a:rPr lang="en-US" sz="1600">
                <a:solidFill>
                  <a:srgbClr val="1B1B1B"/>
                </a:solidFill>
                <a:highlight>
                  <a:srgbClr val="FFFFFF"/>
                </a:highlight>
                <a:ea typeface="+mn-lt"/>
                <a:cs typeface="+mn-lt"/>
              </a:rPr>
              <a:t>(6), 1034–1061. </a:t>
            </a:r>
            <a:r>
              <a:rPr lang="en-US" sz="1600">
                <a:solidFill>
                  <a:srgbClr val="1B1B1B"/>
                </a:solidFill>
                <a:highlight>
                  <a:srgbClr val="FFFFFF"/>
                </a:highlight>
                <a:ea typeface="+mn-lt"/>
                <a:cs typeface="+mn-lt"/>
                <a:hlinkClick r:id="rId4"/>
              </a:rPr>
              <a:t>https://doi.org/10.1177/1745691619866447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1600">
              <a:solidFill>
                <a:srgbClr val="1B1B1B"/>
              </a:solidFill>
              <a:highlight>
                <a:srgbClr val="FFFFFF"/>
              </a:highlight>
            </a:endParaRPr>
          </a:p>
          <a:p>
            <a:r>
              <a:rPr lang="en-US" sz="1600">
                <a:solidFill>
                  <a:srgbClr val="1B1B1B"/>
                </a:solidFill>
                <a:highlight>
                  <a:srgbClr val="FFFFFF"/>
                </a:highlight>
                <a:ea typeface="+mn-lt"/>
                <a:cs typeface="+mn-lt"/>
              </a:rPr>
              <a:t>Spearman, C. (1904). “General Intelligence,” Objectively Determined and Measured. </a:t>
            </a:r>
            <a:r>
              <a:rPr lang="en-US" sz="1600" i="1">
                <a:solidFill>
                  <a:srgbClr val="1B1B1B"/>
                </a:solidFill>
                <a:highlight>
                  <a:srgbClr val="FFFFFF"/>
                </a:highlight>
                <a:ea typeface="+mn-lt"/>
                <a:cs typeface="+mn-lt"/>
              </a:rPr>
              <a:t>The American Journal of Psychology</a:t>
            </a:r>
            <a:r>
              <a:rPr lang="en-US" sz="1600">
                <a:solidFill>
                  <a:srgbClr val="1B1B1B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1600" i="1">
                <a:solidFill>
                  <a:srgbClr val="1B1B1B"/>
                </a:solidFill>
                <a:highlight>
                  <a:srgbClr val="FFFFFF"/>
                </a:highlight>
                <a:ea typeface="+mn-lt"/>
                <a:cs typeface="+mn-lt"/>
              </a:rPr>
              <a:t>15</a:t>
            </a:r>
            <a:r>
              <a:rPr lang="en-US" sz="1600">
                <a:solidFill>
                  <a:srgbClr val="1B1B1B"/>
                </a:solidFill>
                <a:highlight>
                  <a:srgbClr val="FFFFFF"/>
                </a:highlight>
                <a:ea typeface="+mn-lt"/>
                <a:cs typeface="+mn-lt"/>
              </a:rPr>
              <a:t>(2), 201–292. </a:t>
            </a:r>
            <a:r>
              <a:rPr lang="en-US" sz="1600">
                <a:solidFill>
                  <a:srgbClr val="1B1B1B"/>
                </a:solidFill>
                <a:highlight>
                  <a:srgbClr val="FFFFFF"/>
                </a:highlight>
                <a:ea typeface="+mn-lt"/>
                <a:cs typeface="+mn-lt"/>
                <a:hlinkClick r:id="rId5"/>
              </a:rPr>
              <a:t>https://doi.org/10.2307/1412107</a:t>
            </a:r>
            <a:endParaRPr lang="en-US" sz="1600"/>
          </a:p>
          <a:p>
            <a:endParaRPr lang="en-US" sz="1600">
              <a:solidFill>
                <a:srgbClr val="1B1B1B"/>
              </a:solidFill>
              <a:highlight>
                <a:srgbClr val="FFFFFF"/>
              </a:highlight>
            </a:endParaRPr>
          </a:p>
          <a:p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Kovacs, K., &amp; Conway, A. R. A. (2016). Process Overlap Theory: A Unified Account of the General Factor of Intelligence. </a:t>
            </a:r>
            <a:r>
              <a:rPr lang="en-US" sz="1600" i="1">
                <a:solidFill>
                  <a:srgbClr val="33333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Psychological Inquiry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, </a:t>
            </a:r>
            <a:r>
              <a:rPr lang="en-US" sz="1600" i="1">
                <a:solidFill>
                  <a:srgbClr val="33333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27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</a:rPr>
              <a:t>(3), 151–177. 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hlinkClick r:id="rId6"/>
              </a:rPr>
              <a:t>https://doi.org/10.1080/1047840X.2016.1153946</a:t>
            </a:r>
            <a:endParaRPr lang="en-US" sz="1600">
              <a:solidFill>
                <a:srgbClr val="333333"/>
              </a:solidFill>
              <a:highlight>
                <a:srgbClr val="FFFFFF"/>
              </a:highlight>
              <a:latin typeface="Open Sans"/>
              <a:ea typeface="Open Sans"/>
              <a:cs typeface="Open Sans"/>
            </a:endParaRPr>
          </a:p>
          <a:p>
            <a:endParaRPr lang="en-US" sz="1200">
              <a:solidFill>
                <a:srgbClr val="333333"/>
              </a:solidFill>
              <a:highlight>
                <a:srgbClr val="FFFFFF"/>
              </a:highlight>
              <a:latin typeface="Open Sans"/>
              <a:ea typeface="Open Sans"/>
              <a:cs typeface="Open Sans"/>
            </a:endParaRPr>
          </a:p>
          <a:p>
            <a:endParaRPr lang="en-US" sz="1200">
              <a:solidFill>
                <a:srgbClr val="333333"/>
              </a:solidFill>
              <a:highlight>
                <a:srgbClr val="FFFFFF"/>
              </a:highlight>
              <a:latin typeface="Open Sans"/>
              <a:ea typeface="Open Sans"/>
              <a:cs typeface="Open San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5A173-F677-A000-69BC-5657D472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D6E5-252C-444C-85AF-D28A569AF46E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25308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FF3D92-4535-4ACF-9D92-3ED6AA15E785}">
  <we:reference id="wa104381909" version="3.5.1.0" store="en-US" storeType="omex"/>
  <we:alternateReferences>
    <we:reference id="wa104381909" version="3.5.1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2127</Words>
  <Application>Microsoft Macintosh PowerPoint</Application>
  <PresentationFormat>Widescreen</PresentationFormat>
  <Paragraphs>561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4" baseType="lpstr">
      <vt:lpstr>Aptos</vt:lpstr>
      <vt:lpstr>Aptos Display</vt:lpstr>
      <vt:lpstr>Aptos Narrow</vt:lpstr>
      <vt:lpstr>Arial</vt:lpstr>
      <vt:lpstr>Calibri</vt:lpstr>
      <vt:lpstr>Calibri,Sans-Serif</vt:lpstr>
      <vt:lpstr>Cambria Math</vt:lpstr>
      <vt:lpstr>Courier New</vt:lpstr>
      <vt:lpstr>Courier New,monospace</vt:lpstr>
      <vt:lpstr>Lucida Console</vt:lpstr>
      <vt:lpstr>Lucida Grande</vt:lpstr>
      <vt:lpstr>Menlo</vt:lpstr>
      <vt:lpstr>Menlo-Regular</vt:lpstr>
      <vt:lpstr>Open Sans</vt:lpstr>
      <vt:lpstr>Wingdings</vt:lpstr>
      <vt:lpstr>Office Theme</vt:lpstr>
      <vt:lpstr>Explaining the Positive Manifold: A critical comparison of intelligence models</vt:lpstr>
      <vt:lpstr>PowerPoint Presentation</vt:lpstr>
      <vt:lpstr>Mutualism</vt:lpstr>
      <vt:lpstr>van der Maas et al. (2006)</vt:lpstr>
      <vt:lpstr>Overlap?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Daan Vosters</dc:creator>
  <cp:lastModifiedBy>Claire Kelly</cp:lastModifiedBy>
  <cp:revision>1</cp:revision>
  <dcterms:created xsi:type="dcterms:W3CDTF">2026-10-13T10:10:54Z</dcterms:created>
  <dcterms:modified xsi:type="dcterms:W3CDTF">2026-10-21T15:49:37Z</dcterms:modified>
</cp:coreProperties>
</file>